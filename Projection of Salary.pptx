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0" r:id="rId2"/>
    <p:sldId id="259" r:id="rId3"/>
    <p:sldId id="260" r:id="rId4"/>
    <p:sldId id="289" r:id="rId5"/>
    <p:sldId id="275" r:id="rId6"/>
    <p:sldId id="262" r:id="rId7"/>
    <p:sldId id="283" r:id="rId8"/>
    <p:sldId id="288" r:id="rId9"/>
    <p:sldId id="284" r:id="rId10"/>
    <p:sldId id="285" r:id="rId11"/>
    <p:sldId id="286" r:id="rId12"/>
    <p:sldId id="263" r:id="rId13"/>
    <p:sldId id="291" r:id="rId14"/>
    <p:sldId id="294" r:id="rId15"/>
    <p:sldId id="295" r:id="rId16"/>
    <p:sldId id="293" r:id="rId17"/>
    <p:sldId id="296" r:id="rId18"/>
    <p:sldId id="28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681277-FBE4-4C25-AB54-6CBE8C496BC7}">
          <p14:sldIdLst>
            <p14:sldId id="290"/>
            <p14:sldId id="259"/>
            <p14:sldId id="260"/>
            <p14:sldId id="289"/>
            <p14:sldId id="275"/>
            <p14:sldId id="262"/>
            <p14:sldId id="283"/>
            <p14:sldId id="288"/>
            <p14:sldId id="284"/>
            <p14:sldId id="285"/>
            <p14:sldId id="286"/>
            <p14:sldId id="263"/>
            <p14:sldId id="291"/>
            <p14:sldId id="294"/>
            <p14:sldId id="295"/>
            <p14:sldId id="293"/>
            <p14:sldId id="296"/>
            <p14:sldId id="28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8A9910F-A3A2-45E1-806C-C29FB5B5955B}" type="datetimeFigureOut">
              <a:rPr lang="en-GB" smtClean="0"/>
              <a:t>27/03/2021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3666470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8A9910F-A3A2-45E1-806C-C29FB5B5955B}" type="datetimeFigureOut">
              <a:rPr lang="en-GB" smtClean="0"/>
              <a:t>27/03/2021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309728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8A9910F-A3A2-45E1-806C-C29FB5B5955B}" type="datetimeFigureOut">
              <a:rPr lang="en-GB" smtClean="0"/>
              <a:t>27/03/2021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557455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8A9910F-A3A2-45E1-806C-C29FB5B5955B}" type="datetimeFigureOut">
              <a:rPr lang="en-GB" smtClean="0"/>
              <a:t>27/03/2021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1584804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8A9910F-A3A2-45E1-806C-C29FB5B5955B}" type="datetimeFigureOut">
              <a:rPr lang="en-GB" smtClean="0"/>
              <a:t>27/03/2021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2705022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8A9910F-A3A2-45E1-806C-C29FB5B5955B}" type="datetimeFigureOut">
              <a:rPr lang="en-GB" smtClean="0"/>
              <a:t>27/03/2021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3459609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A9910F-A3A2-45E1-806C-C29FB5B5955B}" type="datetimeFigureOut">
              <a:rPr lang="en-GB" smtClean="0"/>
              <a:t>27/03/2021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344950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A9910F-A3A2-45E1-806C-C29FB5B5955B}" type="datetimeFigureOut">
              <a:rPr lang="en-GB" smtClean="0"/>
              <a:t>27/03/2021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3162071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A9910F-A3A2-45E1-806C-C29FB5B5955B}" type="datetimeFigureOut">
              <a:rPr lang="en-GB" smtClean="0"/>
              <a:t>27/03/2021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843032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8A9910F-A3A2-45E1-806C-C29FB5B5955B}" type="datetimeFigureOut">
              <a:rPr lang="en-GB" smtClean="0"/>
              <a:t>27/03/2021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3435601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8A9910F-A3A2-45E1-806C-C29FB5B5955B}" type="datetimeFigureOut">
              <a:rPr lang="en-GB" smtClean="0"/>
              <a:t>27/03/2021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BCCFB12-E044-4D65-9F0C-755D57E24D79}" type="slidenum">
              <a:rPr lang="en-GB" smtClean="0"/>
              <a:t>‹#›</a:t>
            </a:fld>
            <a:endParaRPr lang="en-GB"/>
          </a:p>
        </p:txBody>
      </p:sp>
    </p:spTree>
    <p:extLst>
      <p:ext uri="{BB962C8B-B14F-4D97-AF65-F5344CB8AC3E}">
        <p14:creationId xmlns:p14="http://schemas.microsoft.com/office/powerpoint/2010/main" val="331256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A9910F-A3A2-45E1-806C-C29FB5B5955B}" type="datetimeFigureOut">
              <a:rPr lang="en-GB" smtClean="0"/>
              <a:t>27/03/2021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CCFB12-E044-4D65-9F0C-755D57E24D79}" type="slidenum">
              <a:rPr lang="en-GB" smtClean="0"/>
              <a:t>‹#›</a:t>
            </a:fld>
            <a:endParaRPr lang="en-GB"/>
          </a:p>
        </p:txBody>
      </p:sp>
    </p:spTree>
    <p:extLst>
      <p:ext uri="{BB962C8B-B14F-4D97-AF65-F5344CB8AC3E}">
        <p14:creationId xmlns:p14="http://schemas.microsoft.com/office/powerpoint/2010/main" val="3003700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
        <p:nvSpPr>
          <p:cNvPr id="7" name="TextBox 6">
            <a:extLst>
              <a:ext uri="{FF2B5EF4-FFF2-40B4-BE49-F238E27FC236}">
                <a16:creationId xmlns="" xmlns:a16="http://schemas.microsoft.com/office/drawing/2014/main" id="{9EB0FD16-689C-476C-8309-C7173C257513}"/>
              </a:ext>
            </a:extLst>
          </p:cNvPr>
          <p:cNvSpPr txBox="1"/>
          <p:nvPr/>
        </p:nvSpPr>
        <p:spPr>
          <a:xfrm>
            <a:off x="-1" y="1143000"/>
            <a:ext cx="9143999" cy="1446550"/>
          </a:xfrm>
          <a:prstGeom prst="rect">
            <a:avLst/>
          </a:prstGeom>
          <a:noFill/>
        </p:spPr>
        <p:txBody>
          <a:bodyPr wrap="square" rtlCol="0">
            <a:spAutoFit/>
          </a:bodyPr>
          <a:lstStyle/>
          <a:p>
            <a:pPr algn="ctr"/>
            <a:r>
              <a:rPr lang="en-US" sz="4400" dirty="0" smtClean="0">
                <a:solidFill>
                  <a:srgbClr val="002060"/>
                </a:solidFill>
                <a:latin typeface="Tw Cen MT" panose="020B0602020104020603" pitchFamily="34" charset="0"/>
              </a:rPr>
              <a:t>PROJECTION OF EMPLOYEE WAGES BASED </a:t>
            </a:r>
            <a:r>
              <a:rPr lang="en-US" sz="4400" smtClean="0">
                <a:solidFill>
                  <a:srgbClr val="002060"/>
                </a:solidFill>
                <a:latin typeface="Tw Cen MT" panose="020B0602020104020603" pitchFamily="34" charset="0"/>
              </a:rPr>
              <a:t>ON SKILL &amp; COMPETENCE</a:t>
            </a:r>
            <a:endParaRPr lang="en-US" sz="8000" dirty="0">
              <a:solidFill>
                <a:srgbClr val="002060"/>
              </a:solidFill>
              <a:latin typeface="Tw Cen MT" panose="020B0602020104020603" pitchFamily="34" charset="0"/>
            </a:endParaRPr>
          </a:p>
        </p:txBody>
      </p:sp>
      <p:sp>
        <p:nvSpPr>
          <p:cNvPr id="8" name="TextBox 7">
            <a:extLst>
              <a:ext uri="{FF2B5EF4-FFF2-40B4-BE49-F238E27FC236}">
                <a16:creationId xmlns="" xmlns:a16="http://schemas.microsoft.com/office/drawing/2014/main" id="{4F202974-31A3-4642-B671-F0DBBB7B4663}"/>
              </a:ext>
            </a:extLst>
          </p:cNvPr>
          <p:cNvSpPr txBox="1"/>
          <p:nvPr/>
        </p:nvSpPr>
        <p:spPr>
          <a:xfrm>
            <a:off x="-2" y="3092400"/>
            <a:ext cx="9144000" cy="723275"/>
          </a:xfrm>
          <a:prstGeom prst="rect">
            <a:avLst/>
          </a:prstGeom>
          <a:noFill/>
        </p:spPr>
        <p:txBody>
          <a:bodyPr wrap="square" rtlCol="0">
            <a:spAutoFit/>
          </a:bodyPr>
          <a:lstStyle/>
          <a:p>
            <a:pPr algn="ctr"/>
            <a:r>
              <a:rPr lang="en-US" sz="4100" dirty="0" smtClean="0">
                <a:solidFill>
                  <a:srgbClr val="0070C0"/>
                </a:solidFill>
                <a:latin typeface="Tw Cen MT" panose="020B0602020104020603" pitchFamily="34" charset="0"/>
              </a:rPr>
              <a:t>G.SHIRISHA – 19071D5804</a:t>
            </a:r>
            <a:endParaRPr lang="en-US" sz="4100" dirty="0">
              <a:solidFill>
                <a:srgbClr val="0070C0"/>
              </a:solidFill>
              <a:latin typeface="Tw Cen MT" panose="020B0602020104020603" pitchFamily="34" charset="0"/>
            </a:endParaRPr>
          </a:p>
        </p:txBody>
      </p:sp>
      <p:sp>
        <p:nvSpPr>
          <p:cNvPr id="9" name="TextBox 8">
            <a:extLst>
              <a:ext uri="{FF2B5EF4-FFF2-40B4-BE49-F238E27FC236}">
                <a16:creationId xmlns="" xmlns:a16="http://schemas.microsoft.com/office/drawing/2014/main" id="{79BCE1F0-A71E-4D4B-BE6A-A381604C28D2}"/>
              </a:ext>
            </a:extLst>
          </p:cNvPr>
          <p:cNvSpPr txBox="1"/>
          <p:nvPr/>
        </p:nvSpPr>
        <p:spPr>
          <a:xfrm>
            <a:off x="-2" y="4471191"/>
            <a:ext cx="9143999" cy="954107"/>
          </a:xfrm>
          <a:prstGeom prst="rect">
            <a:avLst/>
          </a:prstGeom>
          <a:noFill/>
        </p:spPr>
        <p:txBody>
          <a:bodyPr wrap="square" rtlCol="0">
            <a:spAutoFit/>
          </a:bodyPr>
          <a:lstStyle/>
          <a:p>
            <a:pPr algn="ctr"/>
            <a:r>
              <a:rPr lang="en-US" sz="2800" dirty="0" smtClean="0">
                <a:solidFill>
                  <a:schemeClr val="tx2">
                    <a:lumMod val="60000"/>
                    <a:lumOff val="40000"/>
                  </a:schemeClr>
                </a:solidFill>
                <a:latin typeface="Tw Cen MT" panose="020B0602020104020603" pitchFamily="34" charset="0"/>
              </a:rPr>
              <a:t>GUIDE -</a:t>
            </a:r>
            <a:r>
              <a:rPr lang="en-US" sz="2800" dirty="0">
                <a:solidFill>
                  <a:schemeClr val="tx2">
                    <a:lumMod val="60000"/>
                    <a:lumOff val="40000"/>
                  </a:schemeClr>
                </a:solidFill>
                <a:latin typeface="Tw Cen MT" panose="020B0602020104020603" pitchFamily="34" charset="0"/>
              </a:rPr>
              <a:t>Dr</a:t>
            </a:r>
            <a:r>
              <a:rPr lang="en-US" sz="2800" dirty="0" smtClean="0">
                <a:solidFill>
                  <a:schemeClr val="tx2">
                    <a:lumMod val="60000"/>
                    <a:lumOff val="40000"/>
                  </a:schemeClr>
                </a:solidFill>
                <a:latin typeface="Tw Cen MT" panose="020B0602020104020603" pitchFamily="34" charset="0"/>
              </a:rPr>
              <a:t>. M. RAJA SEKAR</a:t>
            </a:r>
          </a:p>
          <a:p>
            <a:pPr algn="ctr"/>
            <a:r>
              <a:rPr lang="en-US" sz="2800" dirty="0" smtClean="0">
                <a:solidFill>
                  <a:schemeClr val="tx2">
                    <a:lumMod val="60000"/>
                    <a:lumOff val="40000"/>
                  </a:schemeClr>
                </a:solidFill>
                <a:latin typeface="Tw Cen MT" panose="020B0602020104020603" pitchFamily="34" charset="0"/>
              </a:rPr>
              <a:t>(Professor)</a:t>
            </a:r>
            <a:endParaRPr lang="en-US" sz="2800" dirty="0">
              <a:solidFill>
                <a:schemeClr val="tx2">
                  <a:lumMod val="60000"/>
                  <a:lumOff val="40000"/>
                </a:schemeClr>
              </a:solidFill>
              <a:latin typeface="Tw Cen MT" panose="020B0602020104020603" pitchFamily="34" charset="0"/>
            </a:endParaRPr>
          </a:p>
        </p:txBody>
      </p:sp>
    </p:spTree>
    <p:extLst>
      <p:ext uri="{BB962C8B-B14F-4D97-AF65-F5344CB8AC3E}">
        <p14:creationId xmlns:p14="http://schemas.microsoft.com/office/powerpoint/2010/main" val="4346280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
        <p:nvSpPr>
          <p:cNvPr id="5" name="Title 1"/>
          <p:cNvSpPr>
            <a:spLocks noGrp="1"/>
          </p:cNvSpPr>
          <p:nvPr>
            <p:ph type="title"/>
          </p:nvPr>
        </p:nvSpPr>
        <p:spPr>
          <a:xfrm>
            <a:off x="0" y="0"/>
            <a:ext cx="9144000" cy="1143000"/>
          </a:xfrm>
        </p:spPr>
        <p:txBody>
          <a:bodyPr>
            <a:normAutofit/>
          </a:bodyPr>
          <a:lstStyle/>
          <a:p>
            <a:r>
              <a:rPr lang="en-US" sz="3600" dirty="0" smtClean="0">
                <a:solidFill>
                  <a:schemeClr val="bg1"/>
                </a:solidFill>
                <a:latin typeface="Algerian" panose="04020705040A02060702" pitchFamily="82" charset="0"/>
              </a:rPr>
              <a:t>ABSTRACT</a:t>
            </a:r>
            <a:endParaRPr lang="en-GB" sz="4000" dirty="0">
              <a:solidFill>
                <a:schemeClr val="bg1"/>
              </a:solidFill>
              <a:latin typeface="Algerian" panose="04020705040A02060702" pitchFamily="82" charset="0"/>
            </a:endParaRPr>
          </a:p>
        </p:txBody>
      </p:sp>
      <p:sp>
        <p:nvSpPr>
          <p:cNvPr id="6" name="Rectangle 5"/>
          <p:cNvSpPr/>
          <p:nvPr/>
        </p:nvSpPr>
        <p:spPr>
          <a:xfrm>
            <a:off x="228600" y="1143000"/>
            <a:ext cx="8763000" cy="4293483"/>
          </a:xfrm>
          <a:prstGeom prst="rect">
            <a:avLst/>
          </a:prstGeom>
        </p:spPr>
        <p:txBody>
          <a:bodyPr wrap="square">
            <a:spAutoFit/>
          </a:bodyPr>
          <a:lstStyle/>
          <a:p>
            <a:endParaRPr lang="en-GB" sz="2100" dirty="0" smtClean="0"/>
          </a:p>
          <a:p>
            <a:pPr algn="just"/>
            <a:r>
              <a:rPr lang="en-GB" sz="2100" dirty="0" smtClean="0"/>
              <a:t>	Identifying most rewarded and demanded items in job offers is key for recruiters and candidates. It’s well-known in HR that </a:t>
            </a:r>
            <a:r>
              <a:rPr lang="en-GB" sz="2100" b="1" dirty="0" smtClean="0"/>
              <a:t>recruiting new employees </a:t>
            </a:r>
            <a:r>
              <a:rPr lang="en-GB" sz="2100" dirty="0" smtClean="0"/>
              <a:t>is substantially more expensive than retaining existing talent. Employees who depart take with them valuable experience and knowledge from your organisation. Strategic planning and talent </a:t>
            </a:r>
            <a:r>
              <a:rPr lang="en-GB" sz="2100" b="1" dirty="0" smtClean="0"/>
              <a:t>management</a:t>
            </a:r>
            <a:r>
              <a:rPr lang="en-GB" sz="2100" dirty="0" smtClean="0"/>
              <a:t> in large enterprises composed of knowledge workers requires complete, accurate, and up-to-date representation of the expertise of employees in a form that integrates with business processes. In this work, we deploy an </a:t>
            </a:r>
            <a:r>
              <a:rPr lang="en-GB" sz="2100" b="1" dirty="0" smtClean="0"/>
              <a:t>analytics-driven</a:t>
            </a:r>
            <a:r>
              <a:rPr lang="en-GB" sz="2100" dirty="0" smtClean="0"/>
              <a:t> solution that infers the expertise of employees through the mining of enterprise and social data that is not specifically generated and collected for expertise inference. We consider job role and specialty </a:t>
            </a:r>
            <a:r>
              <a:rPr lang="en-GB" sz="2100" b="1" dirty="0" smtClean="0"/>
              <a:t>prediction</a:t>
            </a:r>
            <a:r>
              <a:rPr lang="en-GB" sz="2100" dirty="0" smtClean="0"/>
              <a:t> and pose them as supervised classification problems. </a:t>
            </a:r>
            <a:endParaRPr lang="en-GB" sz="2100" dirty="0"/>
          </a:p>
        </p:txBody>
      </p:sp>
    </p:spTree>
    <p:extLst>
      <p:ext uri="{BB962C8B-B14F-4D97-AF65-F5344CB8AC3E}">
        <p14:creationId xmlns:p14="http://schemas.microsoft.com/office/powerpoint/2010/main" val="330934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
        <p:nvSpPr>
          <p:cNvPr id="2" name="Rectangle 1"/>
          <p:cNvSpPr/>
          <p:nvPr/>
        </p:nvSpPr>
        <p:spPr>
          <a:xfrm>
            <a:off x="381000" y="1371600"/>
            <a:ext cx="8610600" cy="3970318"/>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en-GB" sz="2100" dirty="0" smtClean="0"/>
              <a:t>Performance </a:t>
            </a:r>
            <a:r>
              <a:rPr lang="en-GB" sz="2100" dirty="0"/>
              <a:t>appraisal process provides a means for discussing, planning and reviewing the performance of each </a:t>
            </a:r>
            <a:r>
              <a:rPr lang="en-GB" sz="2100" dirty="0" smtClean="0"/>
              <a:t>employee.</a:t>
            </a:r>
            <a:endParaRPr lang="en-GB" sz="2100" dirty="0"/>
          </a:p>
          <a:p>
            <a:pPr marL="285750" indent="-285750" algn="just">
              <a:lnSpc>
                <a:spcPct val="150000"/>
              </a:lnSpc>
              <a:buFont typeface="Wingdings" panose="05000000000000000000" pitchFamily="2" charset="2"/>
              <a:buChar char="ü"/>
            </a:pPr>
            <a:r>
              <a:rPr lang="en-GB" sz="2100" dirty="0" smtClean="0"/>
              <a:t>Performance </a:t>
            </a:r>
            <a:r>
              <a:rPr lang="en-GB" sz="2100" dirty="0"/>
              <a:t>appraisals influence </a:t>
            </a:r>
            <a:r>
              <a:rPr lang="en-GB" sz="2100" b="1" dirty="0"/>
              <a:t>salaries,</a:t>
            </a:r>
            <a:r>
              <a:rPr lang="en-GB" sz="2100" dirty="0"/>
              <a:t> promotions and </a:t>
            </a:r>
            <a:r>
              <a:rPr lang="en-GB" sz="2100" dirty="0" smtClean="0"/>
              <a:t>transfers</a:t>
            </a:r>
          </a:p>
          <a:p>
            <a:pPr marL="285750" indent="-285750" algn="just">
              <a:lnSpc>
                <a:spcPct val="150000"/>
              </a:lnSpc>
              <a:buFont typeface="Wingdings" panose="05000000000000000000" pitchFamily="2" charset="2"/>
              <a:buChar char="ü"/>
            </a:pPr>
            <a:r>
              <a:rPr lang="en-GB" sz="2100" dirty="0" smtClean="0"/>
              <a:t>Assigns </a:t>
            </a:r>
            <a:r>
              <a:rPr lang="en-GB" sz="2100" b="1" dirty="0"/>
              <a:t>overall performance </a:t>
            </a:r>
            <a:r>
              <a:rPr lang="en-GB" sz="2100" dirty="0"/>
              <a:t>ratings</a:t>
            </a:r>
            <a:r>
              <a:rPr lang="en-GB" sz="2100" dirty="0" smtClean="0"/>
              <a:t>.</a:t>
            </a:r>
            <a:endParaRPr lang="en-US" sz="2100" dirty="0"/>
          </a:p>
          <a:p>
            <a:pPr marL="285750" indent="-285750" algn="just">
              <a:lnSpc>
                <a:spcPct val="150000"/>
              </a:lnSpc>
              <a:buFont typeface="Wingdings" panose="05000000000000000000" pitchFamily="2" charset="2"/>
              <a:buChar char="ü"/>
            </a:pPr>
            <a:r>
              <a:rPr lang="en-GB" sz="2100" dirty="0" smtClean="0"/>
              <a:t>Does </a:t>
            </a:r>
            <a:r>
              <a:rPr lang="en-GB" sz="2100" dirty="0"/>
              <a:t>not always result in an automatic salary increase. </a:t>
            </a:r>
            <a:endParaRPr lang="en-GB" sz="2100" dirty="0" smtClean="0"/>
          </a:p>
          <a:p>
            <a:pPr marL="285750" indent="-285750" algn="just">
              <a:lnSpc>
                <a:spcPct val="150000"/>
              </a:lnSpc>
              <a:buFont typeface="Wingdings" panose="05000000000000000000" pitchFamily="2" charset="2"/>
              <a:buChar char="ü"/>
            </a:pPr>
            <a:r>
              <a:rPr lang="en-GB" sz="2100" dirty="0"/>
              <a:t>E</a:t>
            </a:r>
            <a:r>
              <a:rPr lang="en-GB" sz="2100" dirty="0" smtClean="0"/>
              <a:t>mployee's overall performance </a:t>
            </a:r>
            <a:r>
              <a:rPr lang="en-GB" sz="2100" dirty="0"/>
              <a:t>and salary level </a:t>
            </a:r>
            <a:r>
              <a:rPr lang="en-GB" sz="2100" dirty="0" smtClean="0"/>
              <a:t>to </a:t>
            </a:r>
            <a:r>
              <a:rPr lang="en-GB" sz="2100" dirty="0"/>
              <a:t>position responsibilities must be </a:t>
            </a:r>
            <a:r>
              <a:rPr lang="en-GB" sz="2100" b="1" dirty="0"/>
              <a:t>evaluated</a:t>
            </a:r>
            <a:r>
              <a:rPr lang="en-GB" sz="2100" dirty="0"/>
              <a:t> to determine whether a salary increase is warranted</a:t>
            </a:r>
            <a:r>
              <a:rPr lang="en-GB" sz="2100" dirty="0" smtClean="0"/>
              <a:t>.</a:t>
            </a:r>
          </a:p>
          <a:p>
            <a:pPr marL="285750" indent="-285750" algn="just">
              <a:lnSpc>
                <a:spcPct val="150000"/>
              </a:lnSpc>
              <a:buFont typeface="Wingdings" panose="05000000000000000000" pitchFamily="2" charset="2"/>
              <a:buChar char="ü"/>
            </a:pPr>
            <a:r>
              <a:rPr lang="en-US" sz="2100" dirty="0" smtClean="0"/>
              <a:t>Focus not only on salary but also </a:t>
            </a:r>
            <a:r>
              <a:rPr lang="en-US" sz="2100" b="1" dirty="0" smtClean="0"/>
              <a:t>churn prediction </a:t>
            </a:r>
            <a:r>
              <a:rPr lang="en-US" sz="2100" dirty="0" smtClean="0"/>
              <a:t>of an employee</a:t>
            </a:r>
          </a:p>
        </p:txBody>
      </p:sp>
      <p:sp>
        <p:nvSpPr>
          <p:cNvPr id="5" name="Title 1"/>
          <p:cNvSpPr>
            <a:spLocks noGrp="1"/>
          </p:cNvSpPr>
          <p:nvPr>
            <p:ph type="title"/>
          </p:nvPr>
        </p:nvSpPr>
        <p:spPr>
          <a:xfrm>
            <a:off x="0" y="0"/>
            <a:ext cx="9144000" cy="1143000"/>
          </a:xfrm>
        </p:spPr>
        <p:txBody>
          <a:bodyPr>
            <a:normAutofit/>
          </a:bodyPr>
          <a:lstStyle/>
          <a:p>
            <a:r>
              <a:rPr lang="en-US" sz="3600" dirty="0" smtClean="0">
                <a:solidFill>
                  <a:schemeClr val="bg1"/>
                </a:solidFill>
                <a:latin typeface="Algerian" panose="04020705040A02060702" pitchFamily="82" charset="0"/>
              </a:rPr>
              <a:t>Purpose</a:t>
            </a:r>
            <a:endParaRPr lang="en-GB" sz="40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18438922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0910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0" y="838200"/>
            <a:ext cx="6568017" cy="4926013"/>
          </a:xfrm>
          <a:prstGeom prst="rect">
            <a:avLst/>
          </a:prstGeom>
          <a:ln>
            <a:noFill/>
          </a:ln>
          <a:effectLst>
            <a:softEdge rad="112500"/>
          </a:effectLst>
        </p:spPr>
      </p:pic>
    </p:spTree>
    <p:extLst>
      <p:ext uri="{BB962C8B-B14F-4D97-AF65-F5344CB8AC3E}">
        <p14:creationId xmlns:p14="http://schemas.microsoft.com/office/powerpoint/2010/main" val="28248483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graphicFrame>
        <p:nvGraphicFramePr>
          <p:cNvPr id="5" name="Table 4">
            <a:extLst>
              <a:ext uri="{FF2B5EF4-FFF2-40B4-BE49-F238E27FC236}">
                <a16:creationId xmlns="" xmlns:a16="http://schemas.microsoft.com/office/drawing/2014/main" id="{C6C0D9C6-C569-4F43-AB80-8253B1A39DE2}"/>
              </a:ext>
            </a:extLst>
          </p:cNvPr>
          <p:cNvGraphicFramePr>
            <a:graphicFrameLocks noGrp="1"/>
          </p:cNvGraphicFramePr>
          <p:nvPr>
            <p:extLst>
              <p:ext uri="{D42A27DB-BD31-4B8C-83A1-F6EECF244321}">
                <p14:modId xmlns:p14="http://schemas.microsoft.com/office/powerpoint/2010/main" val="1711966575"/>
              </p:ext>
            </p:extLst>
          </p:nvPr>
        </p:nvGraphicFramePr>
        <p:xfrm>
          <a:off x="388608" y="1143000"/>
          <a:ext cx="8381318" cy="1296144"/>
        </p:xfrm>
        <a:graphic>
          <a:graphicData uri="http://schemas.openxmlformats.org/drawingml/2006/table">
            <a:tbl>
              <a:tblPr firstRow="1" bandRow="1">
                <a:tableStyleId>{5C22544A-7EE6-4342-B048-85BDC9FD1C3A}</a:tableStyleId>
              </a:tblPr>
              <a:tblGrid>
                <a:gridCol w="573275">
                  <a:extLst>
                    <a:ext uri="{9D8B030D-6E8A-4147-A177-3AD203B41FA5}">
                      <a16:colId xmlns="" xmlns:a16="http://schemas.microsoft.com/office/drawing/2014/main" val="3951964651"/>
                    </a:ext>
                  </a:extLst>
                </a:gridCol>
                <a:gridCol w="2781094">
                  <a:extLst>
                    <a:ext uri="{9D8B030D-6E8A-4147-A177-3AD203B41FA5}">
                      <a16:colId xmlns="" xmlns:a16="http://schemas.microsoft.com/office/drawing/2014/main" val="4156344499"/>
                    </a:ext>
                  </a:extLst>
                </a:gridCol>
                <a:gridCol w="1855662">
                  <a:extLst>
                    <a:ext uri="{9D8B030D-6E8A-4147-A177-3AD203B41FA5}">
                      <a16:colId xmlns="" xmlns:a16="http://schemas.microsoft.com/office/drawing/2014/main" val="1903120254"/>
                    </a:ext>
                  </a:extLst>
                </a:gridCol>
                <a:gridCol w="2041451">
                  <a:extLst>
                    <a:ext uri="{9D8B030D-6E8A-4147-A177-3AD203B41FA5}">
                      <a16:colId xmlns="" xmlns:a16="http://schemas.microsoft.com/office/drawing/2014/main" val="1156634797"/>
                    </a:ext>
                  </a:extLst>
                </a:gridCol>
                <a:gridCol w="1129836">
                  <a:extLst>
                    <a:ext uri="{9D8B030D-6E8A-4147-A177-3AD203B41FA5}">
                      <a16:colId xmlns="" xmlns:a16="http://schemas.microsoft.com/office/drawing/2014/main" val="3200517899"/>
                    </a:ext>
                  </a:extLst>
                </a:gridCol>
              </a:tblGrid>
              <a:tr h="1296144">
                <a:tc>
                  <a:txBody>
                    <a:bodyPr/>
                    <a:lstStyle/>
                    <a:p>
                      <a:r>
                        <a:rPr lang="en-US" sz="1400" dirty="0">
                          <a:latin typeface="Times New Roman" panose="02020603050405020304" pitchFamily="18" charset="0"/>
                          <a:cs typeface="Times New Roman" panose="02020603050405020304" pitchFamily="18" charset="0"/>
                        </a:rPr>
                        <a:t>  </a:t>
                      </a:r>
                      <a:endParaRPr lang="en-US" sz="1400" dirty="0" smtClean="0">
                        <a:latin typeface="Times New Roman" panose="02020603050405020304" pitchFamily="18" charset="0"/>
                        <a:cs typeface="Times New Roman" panose="02020603050405020304" pitchFamily="18" charset="0"/>
                      </a:endParaRPr>
                    </a:p>
                    <a:p>
                      <a:endParaRPr lang="en-US" sz="1400"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01</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GB" sz="1800" b="0" i="0" u="none" strike="noStrike" kern="1200" baseline="0" dirty="0" smtClean="0">
                        <a:solidFill>
                          <a:schemeClr val="lt1"/>
                        </a:solidFill>
                        <a:latin typeface="+mn-lt"/>
                        <a:ea typeface="+mn-ea"/>
                        <a:cs typeface="+mn-cs"/>
                      </a:endParaRPr>
                    </a:p>
                    <a:p>
                      <a:r>
                        <a:rPr lang="en-GB" sz="1800" b="1" i="0" u="none" strike="noStrike" kern="1200" baseline="0" dirty="0" smtClean="0">
                          <a:solidFill>
                            <a:schemeClr val="lt1"/>
                          </a:solidFill>
                          <a:latin typeface="+mn-lt"/>
                          <a:ea typeface="+mn-ea"/>
                          <a:cs typeface="+mn-cs"/>
                        </a:rPr>
                        <a:t>Prediction of Job Applicant Salary and Designation </a:t>
                      </a:r>
                      <a:endParaRPr lang="en-IN" sz="1800" b="1" dirty="0"/>
                    </a:p>
                  </a:txBody>
                  <a:tcPr/>
                </a:tc>
                <a:tc>
                  <a:txBody>
                    <a:bodyPr/>
                    <a:lstStyle/>
                    <a:p>
                      <a:endParaRPr lang="en-GB" sz="1800" b="0" i="0" u="none" strike="noStrike" kern="1200" baseline="0" dirty="0" smtClean="0">
                        <a:solidFill>
                          <a:schemeClr val="lt1"/>
                        </a:solidFill>
                        <a:latin typeface="+mn-lt"/>
                        <a:ea typeface="+mn-ea"/>
                        <a:cs typeface="+mn-cs"/>
                      </a:endParaRPr>
                    </a:p>
                    <a:p>
                      <a:r>
                        <a:rPr lang="pt-BR" sz="1700" b="1" i="0" u="none" strike="noStrike" kern="1200" baseline="0" dirty="0" smtClean="0">
                          <a:solidFill>
                            <a:schemeClr val="lt1"/>
                          </a:solidFill>
                          <a:latin typeface="+mn-lt"/>
                          <a:ea typeface="+mn-ea"/>
                          <a:cs typeface="+mn-cs"/>
                        </a:rPr>
                        <a:t>Ashok Kumar S, Santhosh V, Saranyadevi S </a:t>
                      </a:r>
                      <a:endParaRPr lang="en-IN" sz="1700" b="1" dirty="0">
                        <a:latin typeface="Times New Roman" panose="02020603050405020304" pitchFamily="18" charset="0"/>
                        <a:cs typeface="Times New Roman" panose="02020603050405020304" pitchFamily="18" charset="0"/>
                      </a:endParaRPr>
                    </a:p>
                  </a:txBody>
                  <a:tcPr/>
                </a:tc>
                <a:tc>
                  <a:txBody>
                    <a:bodyPr/>
                    <a:lstStyle/>
                    <a:p>
                      <a:endParaRPr lang="en-US" sz="1600" baseline="0" dirty="0" smtClean="0">
                        <a:latin typeface="+mj-lt"/>
                        <a:cs typeface="Times New Roman" panose="02020603050405020304" pitchFamily="18" charset="0"/>
                      </a:endParaRPr>
                    </a:p>
                    <a:p>
                      <a:endParaRPr lang="en-US" sz="1800" baseline="0" dirty="0" smtClean="0">
                        <a:latin typeface="+mj-lt"/>
                        <a:cs typeface="Times New Roman" panose="02020603050405020304" pitchFamily="18" charset="0"/>
                      </a:endParaRPr>
                    </a:p>
                    <a:p>
                      <a:r>
                        <a:rPr lang="en-US" sz="1800" baseline="0" dirty="0" smtClean="0">
                          <a:latin typeface="+mj-lt"/>
                          <a:cs typeface="Times New Roman" panose="02020603050405020304" pitchFamily="18" charset="0"/>
                        </a:rPr>
                        <a:t>April 6</a:t>
                      </a:r>
                      <a:r>
                        <a:rPr lang="en-US" sz="1800" dirty="0" smtClean="0">
                          <a:latin typeface="+mj-lt"/>
                          <a:cs typeface="Times New Roman" panose="02020603050405020304" pitchFamily="18" charset="0"/>
                        </a:rPr>
                        <a:t>,2020</a:t>
                      </a:r>
                      <a:endParaRPr lang="en-IN" sz="1800" dirty="0">
                        <a:latin typeface="+mj-lt"/>
                        <a:cs typeface="Times New Roman" panose="02020603050405020304" pitchFamily="18" charset="0"/>
                      </a:endParaRPr>
                    </a:p>
                  </a:txBody>
                  <a:tcPr/>
                </a:tc>
                <a:tc>
                  <a:txBody>
                    <a:bodyPr/>
                    <a:lstStyle/>
                    <a:p>
                      <a:endParaRPr lang="en-US" sz="1400" dirty="0" smtClean="0">
                        <a:latin typeface="Times New Roman" panose="02020603050405020304" pitchFamily="18" charset="0"/>
                        <a:cs typeface="Times New Roman" panose="02020603050405020304" pitchFamily="18" charset="0"/>
                      </a:endParaRPr>
                    </a:p>
                    <a:p>
                      <a:r>
                        <a:rPr lang="en-US" sz="1800" baseline="0" dirty="0" smtClean="0">
                          <a:latin typeface="Times New Roman" panose="02020603050405020304" pitchFamily="18" charset="0"/>
                          <a:cs typeface="Times New Roman" panose="02020603050405020304" pitchFamily="18" charset="0"/>
                        </a:rPr>
                        <a:t>     </a:t>
                      </a:r>
                    </a:p>
                    <a:p>
                      <a:r>
                        <a:rPr lang="en-US" sz="1800" baseline="0" dirty="0" smtClean="0">
                          <a:latin typeface="Times New Roman" panose="02020603050405020304" pitchFamily="18" charset="0"/>
                          <a:cs typeface="Times New Roman" panose="02020603050405020304" pitchFamily="18" charset="0"/>
                        </a:rPr>
                        <a:t>     6</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175175760"/>
                  </a:ext>
                </a:extLst>
              </a:tr>
            </a:tbl>
          </a:graphicData>
        </a:graphic>
      </p:graphicFrame>
      <p:sp>
        <p:nvSpPr>
          <p:cNvPr id="6" name="Content Placeholder 2"/>
          <p:cNvSpPr txBox="1">
            <a:spLocks/>
          </p:cNvSpPr>
          <p:nvPr/>
        </p:nvSpPr>
        <p:spPr>
          <a:xfrm>
            <a:off x="374754" y="2563091"/>
            <a:ext cx="8568952" cy="3505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00B0F0"/>
                </a:solidFill>
              </a:rPr>
              <a:t>Findings:</a:t>
            </a:r>
            <a:endParaRPr lang="en-GB" sz="2000" dirty="0"/>
          </a:p>
          <a:p>
            <a:r>
              <a:rPr lang="en-GB" sz="2300" dirty="0">
                <a:latin typeface="Times New Roman" panose="02020603050405020304" pitchFamily="18" charset="0"/>
                <a:cs typeface="Times New Roman" panose="02020603050405020304" pitchFamily="18" charset="0"/>
              </a:rPr>
              <a:t>T</a:t>
            </a:r>
            <a:r>
              <a:rPr lang="en-GB" sz="2300" dirty="0" smtClean="0">
                <a:latin typeface="Times New Roman" panose="02020603050405020304" pitchFamily="18" charset="0"/>
                <a:cs typeface="Times New Roman" panose="02020603050405020304" pitchFamily="18" charset="0"/>
              </a:rPr>
              <a:t>his </a:t>
            </a:r>
            <a:r>
              <a:rPr lang="en-GB" sz="2300" dirty="0">
                <a:latin typeface="Times New Roman" panose="02020603050405020304" pitchFamily="18" charset="0"/>
                <a:cs typeface="Times New Roman" panose="02020603050405020304" pitchFamily="18" charset="0"/>
              </a:rPr>
              <a:t>system is fully supported by recruiting a candidate for a job </a:t>
            </a:r>
            <a:r>
              <a:rPr lang="en-GB" sz="2300" dirty="0" smtClean="0">
                <a:latin typeface="Times New Roman" panose="02020603050405020304" pitchFamily="18" charset="0"/>
                <a:cs typeface="Times New Roman" panose="02020603050405020304" pitchFamily="18" charset="0"/>
              </a:rPr>
              <a:t>based on their </a:t>
            </a:r>
            <a:r>
              <a:rPr lang="en-GB" sz="2300" b="1" dirty="0">
                <a:latin typeface="Times New Roman" panose="02020603050405020304" pitchFamily="18" charset="0"/>
                <a:cs typeface="Times New Roman" panose="02020603050405020304" pitchFamily="18" charset="0"/>
              </a:rPr>
              <a:t>performance</a:t>
            </a:r>
            <a:r>
              <a:rPr lang="en-GB" sz="2300" dirty="0">
                <a:latin typeface="Times New Roman" panose="02020603050405020304" pitchFamily="18" charset="0"/>
                <a:cs typeface="Times New Roman" panose="02020603050405020304" pitchFamily="18" charset="0"/>
              </a:rPr>
              <a:t> within the interview and their test scores are </a:t>
            </a:r>
            <a:r>
              <a:rPr lang="en-GB" sz="2300" dirty="0" smtClean="0">
                <a:latin typeface="Times New Roman" panose="02020603050405020304" pitchFamily="18" charset="0"/>
                <a:cs typeface="Times New Roman" panose="02020603050405020304" pitchFamily="18" charset="0"/>
              </a:rPr>
              <a:t>analysed </a:t>
            </a:r>
            <a:r>
              <a:rPr lang="en-GB" sz="2300" dirty="0">
                <a:latin typeface="Times New Roman" panose="02020603050405020304" pitchFamily="18" charset="0"/>
                <a:cs typeface="Times New Roman" panose="02020603050405020304" pitchFamily="18" charset="0"/>
              </a:rPr>
              <a:t>to predict their basic salary once a </a:t>
            </a:r>
            <a:r>
              <a:rPr lang="en-GB" sz="2300" dirty="0" smtClean="0">
                <a:latin typeface="Times New Roman" panose="02020603050405020304" pitchFamily="18" charset="0"/>
                <a:cs typeface="Times New Roman" panose="02020603050405020304" pitchFamily="18" charset="0"/>
              </a:rPr>
              <a:t>year. </a:t>
            </a:r>
            <a:endParaRPr lang="en-GB" sz="2300" dirty="0">
              <a:latin typeface="Times New Roman" panose="02020603050405020304" pitchFamily="18" charset="0"/>
              <a:cs typeface="Times New Roman" panose="02020603050405020304" pitchFamily="18" charset="0"/>
            </a:endParaRPr>
          </a:p>
          <a:p>
            <a:r>
              <a:rPr lang="en-GB" sz="2300" dirty="0">
                <a:latin typeface="Times New Roman" panose="02020603050405020304" pitchFamily="18" charset="0"/>
                <a:cs typeface="Times New Roman" panose="02020603050405020304" pitchFamily="18" charset="0"/>
              </a:rPr>
              <a:t> It does not provide proper coordination between the different candidates of the company. </a:t>
            </a:r>
            <a:endParaRPr lang="en-GB" sz="2300" dirty="0" smtClean="0">
              <a:latin typeface="Times New Roman" panose="02020603050405020304" pitchFamily="18" charset="0"/>
              <a:cs typeface="Times New Roman" panose="02020603050405020304" pitchFamily="18" charset="0"/>
            </a:endParaRPr>
          </a:p>
          <a:p>
            <a:r>
              <a:rPr lang="en-GB" sz="2300" dirty="0" smtClean="0">
                <a:latin typeface="Times New Roman" panose="02020603050405020304" pitchFamily="18" charset="0"/>
                <a:cs typeface="Times New Roman" panose="02020603050405020304" pitchFamily="18" charset="0"/>
              </a:rPr>
              <a:t> </a:t>
            </a:r>
            <a:r>
              <a:rPr lang="en-GB" sz="2300" dirty="0">
                <a:latin typeface="Times New Roman" panose="02020603050405020304" pitchFamily="18" charset="0"/>
                <a:cs typeface="Times New Roman" panose="02020603050405020304" pitchFamily="18" charset="0"/>
              </a:rPr>
              <a:t>The experimental results show that </a:t>
            </a:r>
            <a:r>
              <a:rPr lang="en-GB" sz="2300" b="1" dirty="0">
                <a:latin typeface="Times New Roman" panose="02020603050405020304" pitchFamily="18" charset="0"/>
                <a:cs typeface="Times New Roman" panose="02020603050405020304" pitchFamily="18" charset="0"/>
              </a:rPr>
              <a:t>k-means clustering </a:t>
            </a:r>
            <a:r>
              <a:rPr lang="en-GB" sz="2300" dirty="0">
                <a:latin typeface="Times New Roman" panose="02020603050405020304" pitchFamily="18" charset="0"/>
                <a:cs typeface="Times New Roman" panose="02020603050405020304" pitchFamily="18" charset="0"/>
              </a:rPr>
              <a:t>the algorithm features an outstanding result on </a:t>
            </a:r>
            <a:r>
              <a:rPr lang="en-GB" sz="2300" dirty="0" smtClean="0">
                <a:latin typeface="Times New Roman" panose="02020603050405020304" pitchFamily="18" charset="0"/>
                <a:cs typeface="Times New Roman" panose="02020603050405020304" pitchFamily="18" charset="0"/>
              </a:rPr>
              <a:t>dataset. </a:t>
            </a:r>
            <a:endParaRPr lang="en-GB"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8922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graphicFrame>
        <p:nvGraphicFramePr>
          <p:cNvPr id="5" name="Table 4">
            <a:extLst>
              <a:ext uri="{FF2B5EF4-FFF2-40B4-BE49-F238E27FC236}">
                <a16:creationId xmlns="" xmlns:a16="http://schemas.microsoft.com/office/drawing/2014/main" id="{C6C0D9C6-C569-4F43-AB80-8253B1A39DE2}"/>
              </a:ext>
            </a:extLst>
          </p:cNvPr>
          <p:cNvGraphicFramePr>
            <a:graphicFrameLocks noGrp="1"/>
          </p:cNvGraphicFramePr>
          <p:nvPr>
            <p:extLst>
              <p:ext uri="{D42A27DB-BD31-4B8C-83A1-F6EECF244321}">
                <p14:modId xmlns:p14="http://schemas.microsoft.com/office/powerpoint/2010/main" val="2070179530"/>
              </p:ext>
            </p:extLst>
          </p:nvPr>
        </p:nvGraphicFramePr>
        <p:xfrm>
          <a:off x="388608" y="1143000"/>
          <a:ext cx="8381318" cy="1296144"/>
        </p:xfrm>
        <a:graphic>
          <a:graphicData uri="http://schemas.openxmlformats.org/drawingml/2006/table">
            <a:tbl>
              <a:tblPr firstRow="1" bandRow="1">
                <a:tableStyleId>{5C22544A-7EE6-4342-B048-85BDC9FD1C3A}</a:tableStyleId>
              </a:tblPr>
              <a:tblGrid>
                <a:gridCol w="573275">
                  <a:extLst>
                    <a:ext uri="{9D8B030D-6E8A-4147-A177-3AD203B41FA5}">
                      <a16:colId xmlns="" xmlns:a16="http://schemas.microsoft.com/office/drawing/2014/main" val="3951964651"/>
                    </a:ext>
                  </a:extLst>
                </a:gridCol>
                <a:gridCol w="2781094">
                  <a:extLst>
                    <a:ext uri="{9D8B030D-6E8A-4147-A177-3AD203B41FA5}">
                      <a16:colId xmlns="" xmlns:a16="http://schemas.microsoft.com/office/drawing/2014/main" val="4156344499"/>
                    </a:ext>
                  </a:extLst>
                </a:gridCol>
                <a:gridCol w="1855662">
                  <a:extLst>
                    <a:ext uri="{9D8B030D-6E8A-4147-A177-3AD203B41FA5}">
                      <a16:colId xmlns="" xmlns:a16="http://schemas.microsoft.com/office/drawing/2014/main" val="1903120254"/>
                    </a:ext>
                  </a:extLst>
                </a:gridCol>
                <a:gridCol w="2041451">
                  <a:extLst>
                    <a:ext uri="{9D8B030D-6E8A-4147-A177-3AD203B41FA5}">
                      <a16:colId xmlns="" xmlns:a16="http://schemas.microsoft.com/office/drawing/2014/main" val="1156634797"/>
                    </a:ext>
                  </a:extLst>
                </a:gridCol>
                <a:gridCol w="1129836">
                  <a:extLst>
                    <a:ext uri="{9D8B030D-6E8A-4147-A177-3AD203B41FA5}">
                      <a16:colId xmlns="" xmlns:a16="http://schemas.microsoft.com/office/drawing/2014/main" val="3200517899"/>
                    </a:ext>
                  </a:extLst>
                </a:gridCol>
              </a:tblGrid>
              <a:tr h="1296144">
                <a:tc>
                  <a:txBody>
                    <a:bodyPr/>
                    <a:lstStyle/>
                    <a:p>
                      <a:r>
                        <a:rPr lang="en-US" sz="1400" dirty="0">
                          <a:latin typeface="Times New Roman" panose="02020603050405020304" pitchFamily="18" charset="0"/>
                          <a:cs typeface="Times New Roman" panose="02020603050405020304" pitchFamily="18" charset="0"/>
                        </a:rPr>
                        <a:t>  </a:t>
                      </a:r>
                      <a:endParaRPr lang="en-US" sz="1400" dirty="0" smtClean="0">
                        <a:latin typeface="Times New Roman" panose="02020603050405020304" pitchFamily="18" charset="0"/>
                        <a:cs typeface="Times New Roman" panose="02020603050405020304" pitchFamily="18" charset="0"/>
                      </a:endParaRPr>
                    </a:p>
                    <a:p>
                      <a:endParaRPr lang="en-US" sz="1400"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02</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GB" sz="1800" b="0" i="0" u="none" strike="noStrike" kern="1200" baseline="0" dirty="0" smtClean="0">
                        <a:solidFill>
                          <a:schemeClr val="lt1"/>
                        </a:solidFill>
                        <a:latin typeface="+mn-lt"/>
                        <a:ea typeface="+mn-ea"/>
                        <a:cs typeface="+mn-cs"/>
                      </a:endParaRPr>
                    </a:p>
                    <a:p>
                      <a:r>
                        <a:rPr lang="en-GB" sz="1800" b="1" i="0" u="none" strike="noStrike" kern="1200" baseline="0" dirty="0" smtClean="0">
                          <a:solidFill>
                            <a:schemeClr val="lt1"/>
                          </a:solidFill>
                          <a:latin typeface="+mn-lt"/>
                          <a:ea typeface="+mn-ea"/>
                          <a:cs typeface="+mn-cs"/>
                        </a:rPr>
                        <a:t>Salary Prediction in IT Tech Job Market </a:t>
                      </a:r>
                      <a:endParaRPr lang="en-IN" sz="1800" b="1" dirty="0"/>
                    </a:p>
                  </a:txBody>
                  <a:tcPr/>
                </a:tc>
                <a:tc>
                  <a:txBody>
                    <a:bodyPr/>
                    <a:lstStyle/>
                    <a:p>
                      <a:endParaRPr lang="en-GB" sz="1800" b="0" i="0" u="none" strike="noStrike" kern="1200" baseline="0" dirty="0" smtClean="0">
                        <a:solidFill>
                          <a:schemeClr val="lt1"/>
                        </a:solidFill>
                        <a:latin typeface="+mn-lt"/>
                        <a:ea typeface="+mn-ea"/>
                        <a:cs typeface="+mn-cs"/>
                      </a:endParaRPr>
                    </a:p>
                    <a:p>
                      <a:r>
                        <a:rPr lang="en-GB" sz="1800" b="1" i="0" u="none" strike="noStrike" kern="1200" baseline="0" dirty="0" smtClean="0">
                          <a:solidFill>
                            <a:schemeClr val="lt1"/>
                          </a:solidFill>
                          <a:latin typeface="+mn-lt"/>
                          <a:ea typeface="+mn-ea"/>
                          <a:cs typeface="+mn-cs"/>
                        </a:rPr>
                        <a:t>Navyashree M,  Neetu M,</a:t>
                      </a:r>
                    </a:p>
                    <a:p>
                      <a:r>
                        <a:rPr lang="en-US" sz="1800" b="1" i="0" u="none" strike="noStrike" kern="1200" baseline="0" dirty="0" smtClean="0">
                          <a:solidFill>
                            <a:schemeClr val="lt1"/>
                          </a:solidFill>
                          <a:latin typeface="+mn-lt"/>
                          <a:ea typeface="+mn-ea"/>
                          <a:cs typeface="+mn-cs"/>
                        </a:rPr>
                        <a:t>Pooja G R</a:t>
                      </a:r>
                      <a:endParaRPr lang="en-IN" sz="1700" b="1" dirty="0">
                        <a:latin typeface="Times New Roman" panose="02020603050405020304" pitchFamily="18" charset="0"/>
                        <a:cs typeface="Times New Roman" panose="02020603050405020304" pitchFamily="18" charset="0"/>
                      </a:endParaRPr>
                    </a:p>
                  </a:txBody>
                  <a:tcPr/>
                </a:tc>
                <a:tc>
                  <a:txBody>
                    <a:bodyPr/>
                    <a:lstStyle/>
                    <a:p>
                      <a:endParaRPr lang="en-US" sz="1600" baseline="0" dirty="0" smtClean="0">
                        <a:latin typeface="+mj-lt"/>
                        <a:cs typeface="Times New Roman" panose="02020603050405020304" pitchFamily="18" charset="0"/>
                      </a:endParaRPr>
                    </a:p>
                    <a:p>
                      <a:endParaRPr lang="en-US" sz="1800" baseline="0" dirty="0" smtClean="0">
                        <a:latin typeface="+mj-lt"/>
                        <a:cs typeface="Times New Roman" panose="02020603050405020304" pitchFamily="18" charset="0"/>
                      </a:endParaRPr>
                    </a:p>
                    <a:p>
                      <a:r>
                        <a:rPr lang="en-US" sz="1800" baseline="0" dirty="0" smtClean="0">
                          <a:latin typeface="+mj-lt"/>
                          <a:cs typeface="Times New Roman" panose="02020603050405020304" pitchFamily="18" charset="0"/>
                        </a:rPr>
                        <a:t>May 15</a:t>
                      </a:r>
                      <a:r>
                        <a:rPr lang="en-US" sz="1800" dirty="0" smtClean="0">
                          <a:latin typeface="+mj-lt"/>
                          <a:cs typeface="Times New Roman" panose="02020603050405020304" pitchFamily="18" charset="0"/>
                        </a:rPr>
                        <a:t>,2019</a:t>
                      </a:r>
                      <a:endParaRPr lang="en-IN" sz="1800" dirty="0">
                        <a:latin typeface="+mj-lt"/>
                        <a:cs typeface="Times New Roman" panose="02020603050405020304" pitchFamily="18" charset="0"/>
                      </a:endParaRPr>
                    </a:p>
                  </a:txBody>
                  <a:tcPr/>
                </a:tc>
                <a:tc>
                  <a:txBody>
                    <a:bodyPr/>
                    <a:lstStyle/>
                    <a:p>
                      <a:endParaRPr lang="en-US" sz="1400" dirty="0" smtClean="0">
                        <a:latin typeface="Times New Roman" panose="02020603050405020304" pitchFamily="18" charset="0"/>
                        <a:cs typeface="Times New Roman" panose="02020603050405020304" pitchFamily="18" charset="0"/>
                      </a:endParaRPr>
                    </a:p>
                    <a:p>
                      <a:r>
                        <a:rPr lang="en-US" sz="1800" baseline="0" dirty="0" smtClean="0">
                          <a:latin typeface="Times New Roman" panose="02020603050405020304" pitchFamily="18" charset="0"/>
                          <a:cs typeface="Times New Roman" panose="02020603050405020304" pitchFamily="18" charset="0"/>
                        </a:rPr>
                        <a:t>     </a:t>
                      </a:r>
                    </a:p>
                    <a:p>
                      <a:r>
                        <a:rPr lang="en-US" sz="1800" baseline="0" dirty="0" smtClean="0">
                          <a:latin typeface="Times New Roman" panose="02020603050405020304" pitchFamily="18" charset="0"/>
                          <a:cs typeface="Times New Roman" panose="02020603050405020304" pitchFamily="18" charset="0"/>
                        </a:rPr>
                        <a:t>     15</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175175760"/>
                  </a:ext>
                </a:extLst>
              </a:tr>
            </a:tbl>
          </a:graphicData>
        </a:graphic>
      </p:graphicFrame>
      <p:sp>
        <p:nvSpPr>
          <p:cNvPr id="6" name="Content Placeholder 2"/>
          <p:cNvSpPr txBox="1">
            <a:spLocks/>
          </p:cNvSpPr>
          <p:nvPr/>
        </p:nvSpPr>
        <p:spPr>
          <a:xfrm>
            <a:off x="381681" y="2590800"/>
            <a:ext cx="8568952" cy="33528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00B0F0"/>
                </a:solidFill>
              </a:rPr>
              <a:t>Findings</a:t>
            </a:r>
            <a:r>
              <a:rPr lang="en-US" sz="2000" dirty="0" smtClean="0">
                <a:solidFill>
                  <a:srgbClr val="00B0F0"/>
                </a:solidFill>
              </a:rPr>
              <a:t>:</a:t>
            </a:r>
            <a:endParaRPr lang="en-GB" sz="1900" dirty="0">
              <a:latin typeface="Times New Roman" panose="02020603050405020304" pitchFamily="18" charset="0"/>
              <a:cs typeface="Times New Roman" panose="02020603050405020304" pitchFamily="18" charset="0"/>
            </a:endParaRPr>
          </a:p>
          <a:p>
            <a:r>
              <a:rPr lang="en-GB" sz="2200" dirty="0" smtClean="0">
                <a:latin typeface="Times New Roman" panose="02020603050405020304" pitchFamily="18" charset="0"/>
                <a:cs typeface="Times New Roman" panose="02020603050405020304" pitchFamily="18" charset="0"/>
              </a:rPr>
              <a:t>Random </a:t>
            </a:r>
            <a:r>
              <a:rPr lang="en-GB" sz="2200" dirty="0">
                <a:latin typeface="Times New Roman" panose="02020603050405020304" pitchFamily="18" charset="0"/>
                <a:cs typeface="Times New Roman" panose="02020603050405020304" pitchFamily="18" charset="0"/>
              </a:rPr>
              <a:t>Forest Regression machine learning rule is applied to predict salary levels of </a:t>
            </a:r>
            <a:r>
              <a:rPr lang="en-GB" sz="2200" dirty="0" smtClean="0">
                <a:latin typeface="Times New Roman" panose="02020603050405020304" pitchFamily="18" charset="0"/>
                <a:cs typeface="Times New Roman" panose="02020603050405020304" pitchFamily="18" charset="0"/>
              </a:rPr>
              <a:t>individuals.</a:t>
            </a:r>
            <a:endParaRPr lang="en-GB" sz="2200" dirty="0">
              <a:latin typeface="Times New Roman" panose="02020603050405020304" pitchFamily="18" charset="0"/>
              <a:cs typeface="Times New Roman" panose="02020603050405020304" pitchFamily="18" charset="0"/>
            </a:endParaRPr>
          </a:p>
          <a:p>
            <a:r>
              <a:rPr lang="en-GB" sz="2200" b="1" dirty="0" smtClean="0">
                <a:latin typeface="Times New Roman" panose="02020603050405020304" pitchFamily="18" charset="0"/>
                <a:cs typeface="Times New Roman" panose="02020603050405020304" pitchFamily="18" charset="0"/>
              </a:rPr>
              <a:t>Accuracy</a:t>
            </a:r>
            <a:r>
              <a:rPr lang="en-GB" sz="2200" dirty="0" smtClean="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of the Random forest </a:t>
            </a:r>
            <a:r>
              <a:rPr lang="en-GB" sz="2200" dirty="0" smtClean="0">
                <a:latin typeface="Times New Roman" panose="02020603050405020304" pitchFamily="18" charset="0"/>
                <a:cs typeface="Times New Roman" panose="02020603050405020304" pitchFamily="18" charset="0"/>
              </a:rPr>
              <a:t>on </a:t>
            </a:r>
            <a:r>
              <a:rPr lang="en-GB" sz="2200" dirty="0">
                <a:latin typeface="Times New Roman" panose="02020603050405020304" pitchFamily="18" charset="0"/>
                <a:cs typeface="Times New Roman" panose="02020603050405020304" pitchFamily="18" charset="0"/>
              </a:rPr>
              <a:t>test data is 97%, while the accuracy of Decision tree </a:t>
            </a:r>
            <a:r>
              <a:rPr lang="en-GB" sz="2200" dirty="0" smtClean="0">
                <a:latin typeface="Times New Roman" panose="02020603050405020304" pitchFamily="18" charset="0"/>
                <a:cs typeface="Times New Roman" panose="02020603050405020304" pitchFamily="18" charset="0"/>
              </a:rPr>
              <a:t>and SVM </a:t>
            </a:r>
            <a:r>
              <a:rPr lang="en-GB" sz="2200" dirty="0">
                <a:latin typeface="Times New Roman" panose="02020603050405020304" pitchFamily="18" charset="0"/>
                <a:cs typeface="Times New Roman" panose="02020603050405020304" pitchFamily="18" charset="0"/>
              </a:rPr>
              <a:t>is 85% and 90% respectively </a:t>
            </a:r>
            <a:endParaRPr lang="en-GB" sz="2200" dirty="0" smtClean="0">
              <a:latin typeface="Times New Roman" panose="02020603050405020304" pitchFamily="18" charset="0"/>
              <a:cs typeface="Times New Roman" panose="02020603050405020304" pitchFamily="18" charset="0"/>
            </a:endParaRPr>
          </a:p>
          <a:p>
            <a:pPr marL="0" indent="0">
              <a:buNone/>
            </a:pPr>
            <a:r>
              <a:rPr lang="en-US" sz="2200" dirty="0" smtClean="0">
                <a:solidFill>
                  <a:srgbClr val="FF0000"/>
                </a:solidFill>
                <a:latin typeface="Times New Roman" panose="02020603050405020304" pitchFamily="18" charset="0"/>
                <a:cs typeface="Times New Roman" panose="02020603050405020304" pitchFamily="18" charset="0"/>
              </a:rPr>
              <a:t>Problem:</a:t>
            </a:r>
            <a:r>
              <a:rPr lang="en-US" sz="2200" dirty="0" smtClean="0">
                <a:latin typeface="Times New Roman" panose="02020603050405020304" pitchFamily="18" charset="0"/>
                <a:cs typeface="Times New Roman" panose="02020603050405020304" pitchFamily="18" charset="0"/>
              </a:rPr>
              <a:t> </a:t>
            </a:r>
            <a:endParaRPr lang="en-GB" sz="2200" dirty="0">
              <a:latin typeface="Times New Roman" panose="02020603050405020304" pitchFamily="18" charset="0"/>
              <a:cs typeface="Times New Roman" panose="02020603050405020304" pitchFamily="18" charset="0"/>
            </a:endParaRPr>
          </a:p>
          <a:p>
            <a:pPr algn="just"/>
            <a:r>
              <a:rPr lang="en-GB" sz="2200" dirty="0" smtClean="0">
                <a:latin typeface="Times New Roman" panose="02020603050405020304" pitchFamily="18" charset="0"/>
                <a:cs typeface="Times New Roman" panose="02020603050405020304" pitchFamily="18" charset="0"/>
              </a:rPr>
              <a:t>To choose </a:t>
            </a:r>
            <a:r>
              <a:rPr lang="en-GB" sz="2200" b="1" dirty="0" smtClean="0">
                <a:latin typeface="Times New Roman" panose="02020603050405020304" pitchFamily="18" charset="0"/>
                <a:cs typeface="Times New Roman" panose="02020603050405020304" pitchFamily="18" charset="0"/>
              </a:rPr>
              <a:t>effective </a:t>
            </a:r>
            <a:r>
              <a:rPr lang="en-GB" sz="2200" b="1" dirty="0">
                <a:latin typeface="Times New Roman" panose="02020603050405020304" pitchFamily="18" charset="0"/>
                <a:cs typeface="Times New Roman" panose="02020603050405020304" pitchFamily="18" charset="0"/>
              </a:rPr>
              <a:t>machine learning </a:t>
            </a:r>
            <a:r>
              <a:rPr lang="en-GB" sz="2200" dirty="0">
                <a:latin typeface="Times New Roman" panose="02020603050405020304" pitchFamily="18" charset="0"/>
                <a:cs typeface="Times New Roman" panose="02020603050405020304" pitchFamily="18" charset="0"/>
              </a:rPr>
              <a:t>rule so as to unravel the problems of classification and prediction of data is the most vital part of </a:t>
            </a:r>
            <a:r>
              <a:rPr lang="en-GB" sz="2200" dirty="0" smtClean="0">
                <a:latin typeface="Times New Roman" panose="02020603050405020304" pitchFamily="18" charset="0"/>
                <a:cs typeface="Times New Roman" panose="02020603050405020304" pitchFamily="18" charset="0"/>
              </a:rPr>
              <a:t>machine learning which </a:t>
            </a:r>
            <a:r>
              <a:rPr lang="en-GB" sz="2200" b="1" dirty="0">
                <a:latin typeface="Times New Roman" panose="02020603050405020304" pitchFamily="18" charset="0"/>
                <a:cs typeface="Times New Roman" panose="02020603050405020304" pitchFamily="18" charset="0"/>
              </a:rPr>
              <a:t>depends on </a:t>
            </a:r>
            <a:r>
              <a:rPr lang="en-GB" sz="2200" b="1" dirty="0" smtClean="0">
                <a:latin typeface="Times New Roman" panose="02020603050405020304" pitchFamily="18" charset="0"/>
                <a:cs typeface="Times New Roman" panose="02020603050405020304" pitchFamily="18" charset="0"/>
              </a:rPr>
              <a:t>dataset.</a:t>
            </a:r>
            <a:endParaRPr lang="en-GB" sz="39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53729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graphicFrame>
        <p:nvGraphicFramePr>
          <p:cNvPr id="5" name="Table 4">
            <a:extLst>
              <a:ext uri="{FF2B5EF4-FFF2-40B4-BE49-F238E27FC236}">
                <a16:creationId xmlns="" xmlns:a16="http://schemas.microsoft.com/office/drawing/2014/main" id="{C6C0D9C6-C569-4F43-AB80-8253B1A39DE2}"/>
              </a:ext>
            </a:extLst>
          </p:cNvPr>
          <p:cNvGraphicFramePr>
            <a:graphicFrameLocks noGrp="1"/>
          </p:cNvGraphicFramePr>
          <p:nvPr>
            <p:extLst>
              <p:ext uri="{D42A27DB-BD31-4B8C-83A1-F6EECF244321}">
                <p14:modId xmlns:p14="http://schemas.microsoft.com/office/powerpoint/2010/main" val="2686375373"/>
              </p:ext>
            </p:extLst>
          </p:nvPr>
        </p:nvGraphicFramePr>
        <p:xfrm>
          <a:off x="388608" y="1143000"/>
          <a:ext cx="8381318" cy="1296144"/>
        </p:xfrm>
        <a:graphic>
          <a:graphicData uri="http://schemas.openxmlformats.org/drawingml/2006/table">
            <a:tbl>
              <a:tblPr firstRow="1" bandRow="1">
                <a:tableStyleId>{5C22544A-7EE6-4342-B048-85BDC9FD1C3A}</a:tableStyleId>
              </a:tblPr>
              <a:tblGrid>
                <a:gridCol w="573275">
                  <a:extLst>
                    <a:ext uri="{9D8B030D-6E8A-4147-A177-3AD203B41FA5}">
                      <a16:colId xmlns="" xmlns:a16="http://schemas.microsoft.com/office/drawing/2014/main" val="3951964651"/>
                    </a:ext>
                  </a:extLst>
                </a:gridCol>
                <a:gridCol w="2781094">
                  <a:extLst>
                    <a:ext uri="{9D8B030D-6E8A-4147-A177-3AD203B41FA5}">
                      <a16:colId xmlns="" xmlns:a16="http://schemas.microsoft.com/office/drawing/2014/main" val="4156344499"/>
                    </a:ext>
                  </a:extLst>
                </a:gridCol>
                <a:gridCol w="1855662">
                  <a:extLst>
                    <a:ext uri="{9D8B030D-6E8A-4147-A177-3AD203B41FA5}">
                      <a16:colId xmlns="" xmlns:a16="http://schemas.microsoft.com/office/drawing/2014/main" val="1903120254"/>
                    </a:ext>
                  </a:extLst>
                </a:gridCol>
                <a:gridCol w="2041451">
                  <a:extLst>
                    <a:ext uri="{9D8B030D-6E8A-4147-A177-3AD203B41FA5}">
                      <a16:colId xmlns="" xmlns:a16="http://schemas.microsoft.com/office/drawing/2014/main" val="1156634797"/>
                    </a:ext>
                  </a:extLst>
                </a:gridCol>
                <a:gridCol w="1129836">
                  <a:extLst>
                    <a:ext uri="{9D8B030D-6E8A-4147-A177-3AD203B41FA5}">
                      <a16:colId xmlns="" xmlns:a16="http://schemas.microsoft.com/office/drawing/2014/main" val="3200517899"/>
                    </a:ext>
                  </a:extLst>
                </a:gridCol>
              </a:tblGrid>
              <a:tr h="1296144">
                <a:tc>
                  <a:txBody>
                    <a:bodyPr/>
                    <a:lstStyle/>
                    <a:p>
                      <a:r>
                        <a:rPr lang="en-US" sz="1400" dirty="0">
                          <a:latin typeface="Times New Roman" panose="02020603050405020304" pitchFamily="18" charset="0"/>
                          <a:cs typeface="Times New Roman" panose="02020603050405020304" pitchFamily="18" charset="0"/>
                        </a:rPr>
                        <a:t>  </a:t>
                      </a:r>
                      <a:endParaRPr lang="en-US" sz="1400" dirty="0" smtClean="0">
                        <a:latin typeface="Times New Roman" panose="02020603050405020304" pitchFamily="18" charset="0"/>
                        <a:cs typeface="Times New Roman" panose="02020603050405020304" pitchFamily="18" charset="0"/>
                      </a:endParaRPr>
                    </a:p>
                    <a:p>
                      <a:endParaRPr lang="en-US" sz="1400"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03</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GB" sz="1800" b="0" i="0" u="none" strike="noStrike" kern="1200" baseline="0" dirty="0" smtClean="0">
                        <a:solidFill>
                          <a:schemeClr val="lt1"/>
                        </a:solidFill>
                        <a:latin typeface="+mn-lt"/>
                        <a:ea typeface="+mn-ea"/>
                        <a:cs typeface="+mn-cs"/>
                      </a:endParaRPr>
                    </a:p>
                    <a:p>
                      <a:r>
                        <a:rPr lang="en-GB" sz="1800" b="1" i="0" u="none" strike="noStrike" kern="1200" baseline="0" dirty="0" smtClean="0">
                          <a:solidFill>
                            <a:schemeClr val="lt1"/>
                          </a:solidFill>
                          <a:latin typeface="+mn-lt"/>
                          <a:ea typeface="+mn-ea"/>
                          <a:cs typeface="+mn-cs"/>
                        </a:rPr>
                        <a:t>Job Portal Analysis and Salary Prediction System</a:t>
                      </a:r>
                      <a:endParaRPr lang="en-IN" sz="1800" b="1" dirty="0"/>
                    </a:p>
                  </a:txBody>
                  <a:tcPr/>
                </a:tc>
                <a:tc>
                  <a:txBody>
                    <a:bodyPr/>
                    <a:lstStyle/>
                    <a:p>
                      <a:r>
                        <a:rPr lang="en-GB" sz="1800" b="1" i="0" u="none" strike="noStrike" kern="1200" baseline="0" dirty="0" smtClean="0">
                          <a:solidFill>
                            <a:schemeClr val="lt1"/>
                          </a:solidFill>
                          <a:latin typeface="+mn-lt"/>
                          <a:ea typeface="+mn-ea"/>
                          <a:cs typeface="+mn-cs"/>
                        </a:rPr>
                        <a:t>Robyn Stone, Jess Wilhelm, Christine E. Bishop</a:t>
                      </a:r>
                      <a:endParaRPr lang="en-IN" sz="1700" b="1" dirty="0">
                        <a:latin typeface="Times New Roman" panose="02020603050405020304" pitchFamily="18" charset="0"/>
                        <a:cs typeface="Times New Roman" panose="02020603050405020304" pitchFamily="18" charset="0"/>
                      </a:endParaRPr>
                    </a:p>
                  </a:txBody>
                  <a:tcPr/>
                </a:tc>
                <a:tc>
                  <a:txBody>
                    <a:bodyPr/>
                    <a:lstStyle/>
                    <a:p>
                      <a:endParaRPr lang="en-US" sz="1600" baseline="0" dirty="0" smtClean="0">
                        <a:latin typeface="+mj-lt"/>
                        <a:cs typeface="Times New Roman" panose="02020603050405020304" pitchFamily="18" charset="0"/>
                      </a:endParaRPr>
                    </a:p>
                    <a:p>
                      <a:endParaRPr lang="en-US" sz="1800" baseline="0" dirty="0" smtClean="0">
                        <a:latin typeface="+mj-lt"/>
                        <a:cs typeface="Times New Roman" panose="02020603050405020304" pitchFamily="18" charset="0"/>
                      </a:endParaRPr>
                    </a:p>
                    <a:p>
                      <a:r>
                        <a:rPr lang="en-US" sz="1800" baseline="0" dirty="0" smtClean="0">
                          <a:latin typeface="+mj-lt"/>
                          <a:cs typeface="Times New Roman" panose="02020603050405020304" pitchFamily="18" charset="0"/>
                        </a:rPr>
                        <a:t>March 3</a:t>
                      </a:r>
                      <a:r>
                        <a:rPr lang="en-US" sz="1800" dirty="0" smtClean="0">
                          <a:latin typeface="+mj-lt"/>
                          <a:cs typeface="Times New Roman" panose="02020603050405020304" pitchFamily="18" charset="0"/>
                        </a:rPr>
                        <a:t>,2020</a:t>
                      </a:r>
                      <a:endParaRPr lang="en-IN" sz="1800" dirty="0">
                        <a:latin typeface="+mj-lt"/>
                        <a:cs typeface="Times New Roman" panose="02020603050405020304" pitchFamily="18" charset="0"/>
                      </a:endParaRPr>
                    </a:p>
                  </a:txBody>
                  <a:tcPr/>
                </a:tc>
                <a:tc>
                  <a:txBody>
                    <a:bodyPr/>
                    <a:lstStyle/>
                    <a:p>
                      <a:endParaRPr lang="en-US" sz="1400" dirty="0" smtClean="0">
                        <a:latin typeface="Times New Roman" panose="02020603050405020304" pitchFamily="18" charset="0"/>
                        <a:cs typeface="Times New Roman" panose="02020603050405020304" pitchFamily="18" charset="0"/>
                      </a:endParaRPr>
                    </a:p>
                    <a:p>
                      <a:r>
                        <a:rPr lang="en-US" sz="1800" baseline="0" dirty="0" smtClean="0">
                          <a:latin typeface="Times New Roman" panose="02020603050405020304" pitchFamily="18" charset="0"/>
                          <a:cs typeface="Times New Roman" panose="02020603050405020304" pitchFamily="18" charset="0"/>
                        </a:rPr>
                        <a:t>     </a:t>
                      </a:r>
                    </a:p>
                    <a:p>
                      <a:r>
                        <a:rPr lang="en-US" sz="1800" baseline="0" dirty="0" smtClean="0">
                          <a:latin typeface="Times New Roman" panose="02020603050405020304" pitchFamily="18" charset="0"/>
                          <a:cs typeface="Times New Roman" panose="02020603050405020304" pitchFamily="18" charset="0"/>
                        </a:rPr>
                        <a:t>     7</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175175760"/>
                  </a:ext>
                </a:extLst>
              </a:tr>
            </a:tbl>
          </a:graphicData>
        </a:graphic>
      </p:graphicFrame>
      <p:sp>
        <p:nvSpPr>
          <p:cNvPr id="6" name="Content Placeholder 2"/>
          <p:cNvSpPr txBox="1">
            <a:spLocks/>
          </p:cNvSpPr>
          <p:nvPr/>
        </p:nvSpPr>
        <p:spPr>
          <a:xfrm>
            <a:off x="381681" y="2521527"/>
            <a:ext cx="8568952" cy="3124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00B0F0"/>
                </a:solidFill>
              </a:rPr>
              <a:t>Findings</a:t>
            </a:r>
            <a:r>
              <a:rPr lang="en-US" sz="2000" dirty="0" smtClean="0">
                <a:solidFill>
                  <a:srgbClr val="00B0F0"/>
                </a:solidFill>
              </a:rPr>
              <a:t>:</a:t>
            </a:r>
          </a:p>
          <a:p>
            <a:pPr algn="just"/>
            <a:r>
              <a:rPr lang="en-GB" sz="2000" dirty="0" smtClean="0">
                <a:latin typeface="Times New Roman" panose="02020603050405020304" pitchFamily="18" charset="0"/>
                <a:cs typeface="Times New Roman" panose="02020603050405020304" pitchFamily="18" charset="0"/>
              </a:rPr>
              <a:t>An effective job </a:t>
            </a:r>
            <a:r>
              <a:rPr lang="en-GB" sz="2000" dirty="0">
                <a:latin typeface="Times New Roman" panose="02020603050405020304" pitchFamily="18" charset="0"/>
                <a:cs typeface="Times New Roman" panose="02020603050405020304" pitchFamily="18" charset="0"/>
              </a:rPr>
              <a:t>portal analysis and salary </a:t>
            </a:r>
            <a:r>
              <a:rPr lang="en-GB" sz="2000" dirty="0" smtClean="0">
                <a:latin typeface="Times New Roman" panose="02020603050405020304" pitchFamily="18" charset="0"/>
                <a:cs typeface="Times New Roman" panose="02020603050405020304" pitchFamily="18" charset="0"/>
              </a:rPr>
              <a:t>prediction system for fresher </a:t>
            </a:r>
            <a:r>
              <a:rPr lang="en-GB" sz="2000" dirty="0">
                <a:latin typeface="Times New Roman" panose="02020603050405020304" pitchFamily="18" charset="0"/>
                <a:cs typeface="Times New Roman" panose="02020603050405020304" pitchFamily="18" charset="0"/>
              </a:rPr>
              <a:t>or professional </a:t>
            </a:r>
            <a:r>
              <a:rPr lang="en-GB" sz="2000" dirty="0" smtClean="0">
                <a:latin typeface="Times New Roman" panose="02020603050405020304" pitchFamily="18" charset="0"/>
                <a:cs typeface="Times New Roman" panose="02020603050405020304" pitchFamily="18" charset="0"/>
              </a:rPr>
              <a:t>could choose </a:t>
            </a:r>
            <a:r>
              <a:rPr lang="en-GB" sz="2000" dirty="0">
                <a:latin typeface="Times New Roman" panose="02020603050405020304" pitchFamily="18" charset="0"/>
                <a:cs typeface="Times New Roman" panose="02020603050405020304" pitchFamily="18" charset="0"/>
              </a:rPr>
              <a:t>the right platform to build a career in by </a:t>
            </a:r>
            <a:r>
              <a:rPr lang="en-GB" sz="2000" dirty="0" smtClean="0">
                <a:latin typeface="Times New Roman" panose="02020603050405020304" pitchFamily="18" charset="0"/>
                <a:cs typeface="Times New Roman" panose="02020603050405020304" pitchFamily="18" charset="0"/>
              </a:rPr>
              <a:t>knowing exactly </a:t>
            </a:r>
            <a:r>
              <a:rPr lang="en-GB" sz="2000" b="1" dirty="0">
                <a:latin typeface="Times New Roman" panose="02020603050405020304" pitchFamily="18" charset="0"/>
                <a:cs typeface="Times New Roman" panose="02020603050405020304" pitchFamily="18" charset="0"/>
              </a:rPr>
              <a:t>which skills are trending </a:t>
            </a:r>
            <a:r>
              <a:rPr lang="en-GB" sz="2000" dirty="0">
                <a:latin typeface="Times New Roman" panose="02020603050405020304" pitchFamily="18" charset="0"/>
                <a:cs typeface="Times New Roman" panose="02020603050405020304" pitchFamily="18" charset="0"/>
              </a:rPr>
              <a:t>in the IT Market</a:t>
            </a:r>
            <a:r>
              <a:rPr lang="en-GB" sz="2000" dirty="0" smtClean="0">
                <a:latin typeface="Times New Roman" panose="02020603050405020304" pitchFamily="18" charset="0"/>
                <a:cs typeface="Times New Roman" panose="02020603050405020304" pitchFamily="18" charset="0"/>
              </a:rPr>
              <a:t>.</a:t>
            </a:r>
          </a:p>
          <a:p>
            <a:pPr marL="0" indent="0">
              <a:buNone/>
            </a:pPr>
            <a:r>
              <a:rPr lang="en-US" sz="2400" dirty="0" smtClean="0">
                <a:solidFill>
                  <a:srgbClr val="FF0000"/>
                </a:solidFill>
                <a:latin typeface="+mj-lt"/>
                <a:cs typeface="Times New Roman" panose="02020603050405020304" pitchFamily="18" charset="0"/>
              </a:rPr>
              <a:t>Problem: </a:t>
            </a:r>
            <a:r>
              <a:rPr lang="en-US" sz="2400" dirty="0" smtClean="0">
                <a:solidFill>
                  <a:srgbClr val="FF0000"/>
                </a:solidFill>
                <a:latin typeface="Times New Roman" panose="02020603050405020304" pitchFamily="18" charset="0"/>
                <a:cs typeface="Times New Roman" panose="02020603050405020304" pitchFamily="18" charset="0"/>
              </a:rPr>
              <a:t> </a:t>
            </a:r>
          </a:p>
          <a:p>
            <a:pPr algn="just"/>
            <a:r>
              <a:rPr lang="en-GB" sz="2200" dirty="0" smtClean="0">
                <a:latin typeface="Times New Roman" panose="02020603050405020304" pitchFamily="18" charset="0"/>
                <a:cs typeface="Times New Roman" panose="02020603050405020304" pitchFamily="18" charset="0"/>
              </a:rPr>
              <a:t>Problem </a:t>
            </a:r>
            <a:r>
              <a:rPr lang="en-GB" sz="2200" dirty="0">
                <a:latin typeface="Times New Roman" panose="02020603050405020304" pitchFamily="18" charset="0"/>
                <a:cs typeface="Times New Roman" panose="02020603050405020304" pitchFamily="18" charset="0"/>
              </a:rPr>
              <a:t>of predicting salary for </a:t>
            </a:r>
            <a:r>
              <a:rPr lang="en-GB" sz="2200" b="1" dirty="0" smtClean="0">
                <a:latin typeface="Times New Roman" panose="02020603050405020304" pitchFamily="18" charset="0"/>
                <a:cs typeface="Times New Roman" panose="02020603050405020304" pitchFamily="18" charset="0"/>
              </a:rPr>
              <a:t>job advertisements </a:t>
            </a:r>
            <a:r>
              <a:rPr lang="en-GB" sz="2200" dirty="0">
                <a:latin typeface="Times New Roman" panose="02020603050405020304" pitchFamily="18" charset="0"/>
                <a:cs typeface="Times New Roman" panose="02020603050405020304" pitchFamily="18" charset="0"/>
              </a:rPr>
              <a:t>in which salary are not mentioned and </a:t>
            </a:r>
            <a:r>
              <a:rPr lang="en-GB" sz="2200" dirty="0" smtClean="0">
                <a:latin typeface="Times New Roman" panose="02020603050405020304" pitchFamily="18" charset="0"/>
                <a:cs typeface="Times New Roman" panose="02020603050405020304" pitchFamily="18" charset="0"/>
              </a:rPr>
              <a:t>also tried </a:t>
            </a:r>
            <a:r>
              <a:rPr lang="en-GB" sz="2200" dirty="0">
                <a:latin typeface="Times New Roman" panose="02020603050405020304" pitchFamily="18" charset="0"/>
                <a:cs typeface="Times New Roman" panose="02020603050405020304" pitchFamily="18" charset="0"/>
              </a:rPr>
              <a:t>to help fresher to predict possible salary for </a:t>
            </a:r>
            <a:r>
              <a:rPr lang="en-GB" sz="2200" b="1" dirty="0" smtClean="0">
                <a:latin typeface="Times New Roman" panose="02020603050405020304" pitchFamily="18" charset="0"/>
                <a:cs typeface="Times New Roman" panose="02020603050405020304" pitchFamily="18" charset="0"/>
              </a:rPr>
              <a:t>different companies </a:t>
            </a:r>
            <a:r>
              <a:rPr lang="en-GB" sz="2200" dirty="0" smtClean="0">
                <a:latin typeface="Times New Roman" panose="02020603050405020304" pitchFamily="18" charset="0"/>
                <a:cs typeface="Times New Roman" panose="02020603050405020304" pitchFamily="18" charset="0"/>
              </a:rPr>
              <a:t>in different locations</a:t>
            </a: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53729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graphicFrame>
        <p:nvGraphicFramePr>
          <p:cNvPr id="5" name="Table 4">
            <a:extLst>
              <a:ext uri="{FF2B5EF4-FFF2-40B4-BE49-F238E27FC236}">
                <a16:creationId xmlns="" xmlns:a16="http://schemas.microsoft.com/office/drawing/2014/main" id="{C6C0D9C6-C569-4F43-AB80-8253B1A39DE2}"/>
              </a:ext>
            </a:extLst>
          </p:cNvPr>
          <p:cNvGraphicFramePr>
            <a:graphicFrameLocks noGrp="1"/>
          </p:cNvGraphicFramePr>
          <p:nvPr>
            <p:extLst>
              <p:ext uri="{D42A27DB-BD31-4B8C-83A1-F6EECF244321}">
                <p14:modId xmlns:p14="http://schemas.microsoft.com/office/powerpoint/2010/main" val="4223681302"/>
              </p:ext>
            </p:extLst>
          </p:nvPr>
        </p:nvGraphicFramePr>
        <p:xfrm>
          <a:off x="388608" y="1143000"/>
          <a:ext cx="8381318" cy="1296144"/>
        </p:xfrm>
        <a:graphic>
          <a:graphicData uri="http://schemas.openxmlformats.org/drawingml/2006/table">
            <a:tbl>
              <a:tblPr firstRow="1" bandRow="1">
                <a:tableStyleId>{5C22544A-7EE6-4342-B048-85BDC9FD1C3A}</a:tableStyleId>
              </a:tblPr>
              <a:tblGrid>
                <a:gridCol w="573275">
                  <a:extLst>
                    <a:ext uri="{9D8B030D-6E8A-4147-A177-3AD203B41FA5}">
                      <a16:colId xmlns="" xmlns:a16="http://schemas.microsoft.com/office/drawing/2014/main" val="3951964651"/>
                    </a:ext>
                  </a:extLst>
                </a:gridCol>
                <a:gridCol w="2781094">
                  <a:extLst>
                    <a:ext uri="{9D8B030D-6E8A-4147-A177-3AD203B41FA5}">
                      <a16:colId xmlns="" xmlns:a16="http://schemas.microsoft.com/office/drawing/2014/main" val="4156344499"/>
                    </a:ext>
                  </a:extLst>
                </a:gridCol>
                <a:gridCol w="1855662">
                  <a:extLst>
                    <a:ext uri="{9D8B030D-6E8A-4147-A177-3AD203B41FA5}">
                      <a16:colId xmlns="" xmlns:a16="http://schemas.microsoft.com/office/drawing/2014/main" val="1903120254"/>
                    </a:ext>
                  </a:extLst>
                </a:gridCol>
                <a:gridCol w="2041451">
                  <a:extLst>
                    <a:ext uri="{9D8B030D-6E8A-4147-A177-3AD203B41FA5}">
                      <a16:colId xmlns="" xmlns:a16="http://schemas.microsoft.com/office/drawing/2014/main" val="1156634797"/>
                    </a:ext>
                  </a:extLst>
                </a:gridCol>
                <a:gridCol w="1129836">
                  <a:extLst>
                    <a:ext uri="{9D8B030D-6E8A-4147-A177-3AD203B41FA5}">
                      <a16:colId xmlns="" xmlns:a16="http://schemas.microsoft.com/office/drawing/2014/main" val="3200517899"/>
                    </a:ext>
                  </a:extLst>
                </a:gridCol>
              </a:tblGrid>
              <a:tr h="1296144">
                <a:tc>
                  <a:txBody>
                    <a:bodyPr/>
                    <a:lstStyle/>
                    <a:p>
                      <a:r>
                        <a:rPr lang="en-US" sz="1400" dirty="0">
                          <a:latin typeface="Times New Roman" panose="02020603050405020304" pitchFamily="18" charset="0"/>
                          <a:cs typeface="Times New Roman" panose="02020603050405020304" pitchFamily="18" charset="0"/>
                        </a:rPr>
                        <a:t>  </a:t>
                      </a:r>
                      <a:endParaRPr lang="en-US" sz="1400" dirty="0" smtClean="0">
                        <a:latin typeface="Times New Roman" panose="02020603050405020304" pitchFamily="18" charset="0"/>
                        <a:cs typeface="Times New Roman" panose="02020603050405020304" pitchFamily="18" charset="0"/>
                      </a:endParaRPr>
                    </a:p>
                    <a:p>
                      <a:endParaRPr lang="en-US" sz="1400"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04</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GB" sz="1800" b="1" i="0" u="none" strike="noStrike" kern="1200" baseline="0" dirty="0" smtClean="0">
                        <a:solidFill>
                          <a:schemeClr val="lt1"/>
                        </a:solidFill>
                        <a:latin typeface="+mn-lt"/>
                        <a:ea typeface="+mn-ea"/>
                        <a:cs typeface="+mn-cs"/>
                      </a:endParaRPr>
                    </a:p>
                    <a:p>
                      <a:r>
                        <a:rPr lang="en-GB" sz="1800" b="1" i="0" u="none" strike="noStrike" kern="1200" baseline="0" dirty="0" smtClean="0">
                          <a:solidFill>
                            <a:schemeClr val="lt1"/>
                          </a:solidFill>
                          <a:latin typeface="+mn-lt"/>
                          <a:ea typeface="+mn-ea"/>
                          <a:cs typeface="+mn-cs"/>
                        </a:rPr>
                        <a:t>Salary Prediction Using Regression Techniques </a:t>
                      </a:r>
                      <a:endParaRPr lang="en-IN" sz="1800" b="1" dirty="0"/>
                    </a:p>
                  </a:txBody>
                  <a:tcPr/>
                </a:tc>
                <a:tc>
                  <a:txBody>
                    <a:bodyPr/>
                    <a:lstStyle/>
                    <a:p>
                      <a:endParaRPr lang="en-GB" sz="1800" b="1" i="0" u="none" strike="noStrike" kern="1200" baseline="0" dirty="0" smtClean="0">
                        <a:solidFill>
                          <a:schemeClr val="lt1"/>
                        </a:solidFill>
                        <a:latin typeface="+mn-lt"/>
                        <a:ea typeface="+mn-ea"/>
                        <a:cs typeface="+mn-cs"/>
                      </a:endParaRPr>
                    </a:p>
                    <a:p>
                      <a:r>
                        <a:rPr lang="en-GB" sz="1800" b="1" i="0" u="none" strike="noStrike" kern="1200" baseline="0" dirty="0" err="1" smtClean="0">
                          <a:solidFill>
                            <a:schemeClr val="lt1"/>
                          </a:solidFill>
                          <a:latin typeface="+mn-lt"/>
                          <a:ea typeface="+mn-ea"/>
                          <a:cs typeface="+mn-cs"/>
                        </a:rPr>
                        <a:t>Sayan</a:t>
                      </a:r>
                      <a:r>
                        <a:rPr lang="en-GB" sz="1800" b="1" i="0" u="none" strike="noStrike" kern="1200" baseline="0" dirty="0" smtClean="0">
                          <a:solidFill>
                            <a:schemeClr val="lt1"/>
                          </a:solidFill>
                          <a:latin typeface="+mn-lt"/>
                          <a:ea typeface="+mn-ea"/>
                          <a:cs typeface="+mn-cs"/>
                        </a:rPr>
                        <a:t> Das</a:t>
                      </a:r>
                    </a:p>
                    <a:p>
                      <a:r>
                        <a:rPr lang="en-GB" sz="1800" b="1" i="0" u="none" strike="noStrike" kern="1200" baseline="0" dirty="0" err="1" smtClean="0">
                          <a:solidFill>
                            <a:schemeClr val="lt1"/>
                          </a:solidFill>
                          <a:latin typeface="+mn-lt"/>
                          <a:ea typeface="+mn-ea"/>
                          <a:cs typeface="+mn-cs"/>
                        </a:rPr>
                        <a:t>Ayush</a:t>
                      </a:r>
                      <a:r>
                        <a:rPr lang="en-GB" sz="1800" b="1" i="0" u="none" strike="noStrike" kern="1200" baseline="0" dirty="0" smtClean="0">
                          <a:solidFill>
                            <a:schemeClr val="lt1"/>
                          </a:solidFill>
                          <a:latin typeface="+mn-lt"/>
                          <a:ea typeface="+mn-ea"/>
                          <a:cs typeface="+mn-cs"/>
                        </a:rPr>
                        <a:t> Mukherjee</a:t>
                      </a:r>
                      <a:endParaRPr lang="en-IN" sz="1700" b="1" dirty="0">
                        <a:latin typeface="Times New Roman" panose="02020603050405020304" pitchFamily="18" charset="0"/>
                        <a:cs typeface="Times New Roman" panose="02020603050405020304" pitchFamily="18" charset="0"/>
                      </a:endParaRPr>
                    </a:p>
                  </a:txBody>
                  <a:tcPr/>
                </a:tc>
                <a:tc>
                  <a:txBody>
                    <a:bodyPr/>
                    <a:lstStyle/>
                    <a:p>
                      <a:endParaRPr lang="en-US" sz="1600" baseline="0" dirty="0" smtClean="0">
                        <a:latin typeface="+mj-lt"/>
                        <a:cs typeface="Times New Roman" panose="02020603050405020304" pitchFamily="18" charset="0"/>
                      </a:endParaRPr>
                    </a:p>
                    <a:p>
                      <a:endParaRPr lang="en-US" sz="1800" baseline="0" dirty="0" smtClean="0">
                        <a:latin typeface="+mj-lt"/>
                        <a:cs typeface="Times New Roman" panose="02020603050405020304" pitchFamily="18" charset="0"/>
                      </a:endParaRPr>
                    </a:p>
                    <a:p>
                      <a:r>
                        <a:rPr lang="en-US" sz="1800" baseline="0" dirty="0" smtClean="0">
                          <a:latin typeface="+mj-lt"/>
                          <a:cs typeface="Times New Roman" panose="02020603050405020304" pitchFamily="18" charset="0"/>
                        </a:rPr>
                        <a:t>Jan 14</a:t>
                      </a:r>
                      <a:r>
                        <a:rPr lang="en-US" sz="1800" dirty="0" smtClean="0">
                          <a:latin typeface="+mj-lt"/>
                          <a:cs typeface="Times New Roman" panose="02020603050405020304" pitchFamily="18" charset="0"/>
                        </a:rPr>
                        <a:t>,2020</a:t>
                      </a:r>
                      <a:endParaRPr lang="en-IN" sz="1800" dirty="0">
                        <a:latin typeface="+mj-lt"/>
                        <a:cs typeface="Times New Roman" panose="02020603050405020304" pitchFamily="18" charset="0"/>
                      </a:endParaRPr>
                    </a:p>
                  </a:txBody>
                  <a:tcPr/>
                </a:tc>
                <a:tc>
                  <a:txBody>
                    <a:bodyPr/>
                    <a:lstStyle/>
                    <a:p>
                      <a:endParaRPr lang="en-US" sz="1400" dirty="0" smtClean="0">
                        <a:latin typeface="Times New Roman" panose="02020603050405020304" pitchFamily="18" charset="0"/>
                        <a:cs typeface="Times New Roman" panose="02020603050405020304" pitchFamily="18" charset="0"/>
                      </a:endParaRPr>
                    </a:p>
                    <a:p>
                      <a:r>
                        <a:rPr lang="en-US" sz="1800" baseline="0" dirty="0" smtClean="0">
                          <a:latin typeface="Times New Roman" panose="02020603050405020304" pitchFamily="18" charset="0"/>
                          <a:cs typeface="Times New Roman" panose="02020603050405020304" pitchFamily="18" charset="0"/>
                        </a:rPr>
                        <a:t>     </a:t>
                      </a:r>
                    </a:p>
                    <a:p>
                      <a:r>
                        <a:rPr lang="en-US" sz="1800" baseline="0" dirty="0" smtClean="0">
                          <a:latin typeface="Times New Roman" panose="02020603050405020304" pitchFamily="18" charset="0"/>
                          <a:cs typeface="Times New Roman" panose="02020603050405020304" pitchFamily="18" charset="0"/>
                        </a:rPr>
                        <a:t>     2</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175175760"/>
                  </a:ext>
                </a:extLst>
              </a:tr>
            </a:tbl>
          </a:graphicData>
        </a:graphic>
      </p:graphicFrame>
      <p:sp>
        <p:nvSpPr>
          <p:cNvPr id="6" name="Content Placeholder 2"/>
          <p:cNvSpPr txBox="1">
            <a:spLocks/>
          </p:cNvSpPr>
          <p:nvPr/>
        </p:nvSpPr>
        <p:spPr>
          <a:xfrm>
            <a:off x="381681" y="2514600"/>
            <a:ext cx="8568952" cy="3124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00B0F0"/>
                </a:solidFill>
              </a:rPr>
              <a:t>Findings</a:t>
            </a:r>
            <a:r>
              <a:rPr lang="en-US" sz="2000" dirty="0" smtClean="0">
                <a:solidFill>
                  <a:srgbClr val="00B0F0"/>
                </a:solidFill>
              </a:rPr>
              <a:t>:</a:t>
            </a:r>
          </a:p>
          <a:p>
            <a:pPr>
              <a:buFont typeface="Wingdings" panose="05000000000000000000" pitchFamily="2" charset="2"/>
              <a:buChar char="ü"/>
            </a:pPr>
            <a:r>
              <a:rPr lang="en-GB" sz="2100" b="1" dirty="0">
                <a:latin typeface="Times New Roman" panose="02020603050405020304" pitchFamily="18" charset="0"/>
                <a:cs typeface="Times New Roman" panose="02020603050405020304" pitchFamily="18" charset="0"/>
              </a:rPr>
              <a:t>G</a:t>
            </a:r>
            <a:r>
              <a:rPr lang="en-GB" sz="2100" b="1" dirty="0" smtClean="0">
                <a:latin typeface="Times New Roman" panose="02020603050405020304" pitchFamily="18" charset="0"/>
                <a:cs typeface="Times New Roman" panose="02020603050405020304" pitchFamily="18" charset="0"/>
              </a:rPr>
              <a:t>raphical </a:t>
            </a:r>
            <a:r>
              <a:rPr lang="en-GB" sz="2100" b="1" dirty="0">
                <a:latin typeface="Times New Roman" panose="02020603050405020304" pitchFamily="18" charset="0"/>
                <a:cs typeface="Times New Roman" panose="02020603050405020304" pitchFamily="18" charset="0"/>
              </a:rPr>
              <a:t>representation</a:t>
            </a:r>
            <a:r>
              <a:rPr lang="en-GB" sz="2100" dirty="0">
                <a:latin typeface="Times New Roman" panose="02020603050405020304" pitchFamily="18" charset="0"/>
                <a:cs typeface="Times New Roman" panose="02020603050405020304" pitchFamily="18" charset="0"/>
              </a:rPr>
              <a:t> of predicting salary is a process that aims for developing computerized system to maintain all the daily work of salary growth graph in any field and can predict salary after a certain time period. </a:t>
            </a:r>
            <a:endParaRPr lang="en-GB" sz="21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sz="2100" dirty="0">
                <a:latin typeface="Times New Roman" panose="02020603050405020304" pitchFamily="18" charset="0"/>
                <a:cs typeface="Times New Roman" panose="02020603050405020304" pitchFamily="18" charset="0"/>
              </a:rPr>
              <a:t>Choosing the salary from x-y graph as it is to use to represent a specific data set that takes some </a:t>
            </a:r>
            <a:r>
              <a:rPr lang="en-GB" sz="2100" b="1" dirty="0">
                <a:latin typeface="Times New Roman" panose="02020603050405020304" pitchFamily="18" charset="0"/>
                <a:cs typeface="Times New Roman" panose="02020603050405020304" pitchFamily="18" charset="0"/>
              </a:rPr>
              <a:t>trial and error. </a:t>
            </a:r>
            <a:endParaRPr lang="en-GB" sz="2100"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sz="2100" dirty="0">
                <a:latin typeface="Times New Roman" panose="02020603050405020304" pitchFamily="18" charset="0"/>
                <a:cs typeface="Times New Roman" panose="02020603050405020304" pitchFamily="18" charset="0"/>
              </a:rPr>
              <a:t>This prediction is correct </a:t>
            </a:r>
            <a:r>
              <a:rPr lang="en-GB" sz="2100" dirty="0" smtClean="0">
                <a:latin typeface="Times New Roman" panose="02020603050405020304" pitchFamily="18" charset="0"/>
                <a:cs typeface="Times New Roman" panose="02020603050405020304" pitchFamily="18" charset="0"/>
              </a:rPr>
              <a:t>up to </a:t>
            </a:r>
            <a:r>
              <a:rPr lang="en-GB" sz="2100" dirty="0">
                <a:latin typeface="Times New Roman" panose="02020603050405020304" pitchFamily="18" charset="0"/>
                <a:cs typeface="Times New Roman" panose="02020603050405020304" pitchFamily="18" charset="0"/>
              </a:rPr>
              <a:t>a certain percentage. More accuracy can be obtained by implementing k-nearest regression </a:t>
            </a:r>
          </a:p>
        </p:txBody>
      </p:sp>
    </p:spTree>
    <p:extLst>
      <p:ext uri="{BB962C8B-B14F-4D97-AF65-F5344CB8AC3E}">
        <p14:creationId xmlns:p14="http://schemas.microsoft.com/office/powerpoint/2010/main" val="25253729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graphicFrame>
        <p:nvGraphicFramePr>
          <p:cNvPr id="5" name="Table 4">
            <a:extLst>
              <a:ext uri="{FF2B5EF4-FFF2-40B4-BE49-F238E27FC236}">
                <a16:creationId xmlns="" xmlns:a16="http://schemas.microsoft.com/office/drawing/2014/main" id="{C6C0D9C6-C569-4F43-AB80-8253B1A39DE2}"/>
              </a:ext>
            </a:extLst>
          </p:cNvPr>
          <p:cNvGraphicFramePr>
            <a:graphicFrameLocks noGrp="1"/>
          </p:cNvGraphicFramePr>
          <p:nvPr>
            <p:extLst>
              <p:ext uri="{D42A27DB-BD31-4B8C-83A1-F6EECF244321}">
                <p14:modId xmlns:p14="http://schemas.microsoft.com/office/powerpoint/2010/main" val="1089607602"/>
              </p:ext>
            </p:extLst>
          </p:nvPr>
        </p:nvGraphicFramePr>
        <p:xfrm>
          <a:off x="388608" y="1143000"/>
          <a:ext cx="8381318" cy="1296144"/>
        </p:xfrm>
        <a:graphic>
          <a:graphicData uri="http://schemas.openxmlformats.org/drawingml/2006/table">
            <a:tbl>
              <a:tblPr firstRow="1" bandRow="1">
                <a:tableStyleId>{5C22544A-7EE6-4342-B048-85BDC9FD1C3A}</a:tableStyleId>
              </a:tblPr>
              <a:tblGrid>
                <a:gridCol w="573275">
                  <a:extLst>
                    <a:ext uri="{9D8B030D-6E8A-4147-A177-3AD203B41FA5}">
                      <a16:colId xmlns="" xmlns:a16="http://schemas.microsoft.com/office/drawing/2014/main" val="3951964651"/>
                    </a:ext>
                  </a:extLst>
                </a:gridCol>
                <a:gridCol w="2781094">
                  <a:extLst>
                    <a:ext uri="{9D8B030D-6E8A-4147-A177-3AD203B41FA5}">
                      <a16:colId xmlns="" xmlns:a16="http://schemas.microsoft.com/office/drawing/2014/main" val="4156344499"/>
                    </a:ext>
                  </a:extLst>
                </a:gridCol>
                <a:gridCol w="1855662">
                  <a:extLst>
                    <a:ext uri="{9D8B030D-6E8A-4147-A177-3AD203B41FA5}">
                      <a16:colId xmlns="" xmlns:a16="http://schemas.microsoft.com/office/drawing/2014/main" val="1903120254"/>
                    </a:ext>
                  </a:extLst>
                </a:gridCol>
                <a:gridCol w="2041451">
                  <a:extLst>
                    <a:ext uri="{9D8B030D-6E8A-4147-A177-3AD203B41FA5}">
                      <a16:colId xmlns="" xmlns:a16="http://schemas.microsoft.com/office/drawing/2014/main" val="1156634797"/>
                    </a:ext>
                  </a:extLst>
                </a:gridCol>
                <a:gridCol w="1129836">
                  <a:extLst>
                    <a:ext uri="{9D8B030D-6E8A-4147-A177-3AD203B41FA5}">
                      <a16:colId xmlns="" xmlns:a16="http://schemas.microsoft.com/office/drawing/2014/main" val="3200517899"/>
                    </a:ext>
                  </a:extLst>
                </a:gridCol>
              </a:tblGrid>
              <a:tr h="1296144">
                <a:tc>
                  <a:txBody>
                    <a:bodyPr/>
                    <a:lstStyle/>
                    <a:p>
                      <a:r>
                        <a:rPr lang="en-US" sz="1400" dirty="0">
                          <a:latin typeface="Times New Roman" panose="02020603050405020304" pitchFamily="18" charset="0"/>
                          <a:cs typeface="Times New Roman" panose="02020603050405020304" pitchFamily="18" charset="0"/>
                        </a:rPr>
                        <a:t>  </a:t>
                      </a:r>
                      <a:endParaRPr lang="en-US" sz="1400" dirty="0" smtClean="0">
                        <a:latin typeface="Times New Roman" panose="02020603050405020304" pitchFamily="18" charset="0"/>
                        <a:cs typeface="Times New Roman" panose="02020603050405020304" pitchFamily="18" charset="0"/>
                      </a:endParaRPr>
                    </a:p>
                    <a:p>
                      <a:endParaRPr lang="en-US" sz="1400"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05</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GB" sz="1800" b="1" i="0" u="none" strike="noStrike" kern="1200" baseline="0" dirty="0" smtClean="0">
                        <a:solidFill>
                          <a:schemeClr val="lt1"/>
                        </a:solidFill>
                        <a:latin typeface="+mn-lt"/>
                        <a:ea typeface="+mn-ea"/>
                        <a:cs typeface="+mn-cs"/>
                      </a:endParaRPr>
                    </a:p>
                    <a:p>
                      <a:r>
                        <a:rPr lang="en-GB" sz="1800" b="1" i="0" u="none" strike="noStrike" kern="1200" baseline="0" dirty="0" smtClean="0">
                          <a:solidFill>
                            <a:schemeClr val="lt1"/>
                          </a:solidFill>
                          <a:latin typeface="+mn-lt"/>
                          <a:ea typeface="+mn-ea"/>
                          <a:cs typeface="+mn-cs"/>
                        </a:rPr>
                        <a:t>Salary Prediction using CNN</a:t>
                      </a:r>
                      <a:endParaRPr lang="en-IN" sz="1800" b="1" dirty="0"/>
                    </a:p>
                  </a:txBody>
                  <a:tcPr/>
                </a:tc>
                <a:tc>
                  <a:txBody>
                    <a:bodyPr/>
                    <a:lstStyle/>
                    <a:p>
                      <a:endParaRPr lang="en-GB" sz="1800" b="1" i="0" u="none" strike="noStrike" kern="1200" baseline="0" dirty="0" smtClean="0">
                        <a:solidFill>
                          <a:schemeClr val="lt1"/>
                        </a:solidFill>
                        <a:latin typeface="+mn-lt"/>
                        <a:ea typeface="+mn-ea"/>
                        <a:cs typeface="+mn-cs"/>
                      </a:endParaRPr>
                    </a:p>
                    <a:p>
                      <a:r>
                        <a:rPr lang="en-GB" sz="1800" b="1" i="0" u="none" strike="noStrike" kern="1200" baseline="0" dirty="0" err="1" smtClean="0">
                          <a:solidFill>
                            <a:schemeClr val="lt1"/>
                          </a:solidFill>
                          <a:latin typeface="+mn-lt"/>
                          <a:ea typeface="+mn-ea"/>
                          <a:cs typeface="+mn-cs"/>
                        </a:rPr>
                        <a:t>Zhongsheng</a:t>
                      </a:r>
                      <a:r>
                        <a:rPr lang="en-GB" sz="1800" b="1" i="0" u="none" strike="noStrike" kern="1200" baseline="0" dirty="0" smtClean="0">
                          <a:solidFill>
                            <a:schemeClr val="lt1"/>
                          </a:solidFill>
                          <a:latin typeface="+mn-lt"/>
                          <a:ea typeface="+mn-ea"/>
                          <a:cs typeface="+mn-cs"/>
                        </a:rPr>
                        <a:t> Wang </a:t>
                      </a:r>
                      <a:r>
                        <a:rPr lang="en-GB" sz="1800" b="1" i="0" u="none" strike="noStrike" kern="1200" baseline="0" dirty="0" err="1" smtClean="0">
                          <a:solidFill>
                            <a:schemeClr val="lt1"/>
                          </a:solidFill>
                          <a:latin typeface="+mn-lt"/>
                          <a:ea typeface="+mn-ea"/>
                          <a:cs typeface="+mn-cs"/>
                        </a:rPr>
                        <a:t>Shinsuke</a:t>
                      </a:r>
                      <a:r>
                        <a:rPr lang="en-GB" sz="1800" b="1" i="0" u="none" strike="noStrike" kern="1200" baseline="0" dirty="0" smtClean="0">
                          <a:solidFill>
                            <a:schemeClr val="lt1"/>
                          </a:solidFill>
                          <a:latin typeface="+mn-lt"/>
                          <a:ea typeface="+mn-ea"/>
                          <a:cs typeface="+mn-cs"/>
                        </a:rPr>
                        <a:t> </a:t>
                      </a:r>
                      <a:r>
                        <a:rPr lang="en-GB" sz="1800" b="1" i="0" u="none" strike="noStrike" kern="1200" baseline="0" dirty="0" err="1" smtClean="0">
                          <a:solidFill>
                            <a:schemeClr val="lt1"/>
                          </a:solidFill>
                          <a:latin typeface="+mn-lt"/>
                          <a:ea typeface="+mn-ea"/>
                          <a:cs typeface="+mn-cs"/>
                        </a:rPr>
                        <a:t>Sugaya</a:t>
                      </a:r>
                      <a:endParaRPr lang="en-IN" sz="1700" b="1" dirty="0">
                        <a:latin typeface="Times New Roman" panose="02020603050405020304" pitchFamily="18" charset="0"/>
                        <a:cs typeface="Times New Roman" panose="02020603050405020304" pitchFamily="18" charset="0"/>
                      </a:endParaRPr>
                    </a:p>
                  </a:txBody>
                  <a:tcPr/>
                </a:tc>
                <a:tc>
                  <a:txBody>
                    <a:bodyPr/>
                    <a:lstStyle/>
                    <a:p>
                      <a:endParaRPr lang="en-US" sz="1600" baseline="0" dirty="0" smtClean="0">
                        <a:latin typeface="+mj-lt"/>
                        <a:cs typeface="Times New Roman" panose="02020603050405020304" pitchFamily="18" charset="0"/>
                      </a:endParaRPr>
                    </a:p>
                    <a:p>
                      <a:endParaRPr lang="en-US" sz="1800" baseline="0" dirty="0" smtClean="0">
                        <a:latin typeface="+mj-lt"/>
                        <a:cs typeface="Times New Roman" panose="02020603050405020304" pitchFamily="18" charset="0"/>
                      </a:endParaRPr>
                    </a:p>
                    <a:p>
                      <a:r>
                        <a:rPr lang="en-US" sz="1800" baseline="0" dirty="0" smtClean="0">
                          <a:latin typeface="+mj-lt"/>
                          <a:cs typeface="Times New Roman" panose="02020603050405020304" pitchFamily="18" charset="0"/>
                        </a:rPr>
                        <a:t>April 3</a:t>
                      </a:r>
                      <a:r>
                        <a:rPr lang="en-US" sz="1800" dirty="0" smtClean="0">
                          <a:latin typeface="+mj-lt"/>
                          <a:cs typeface="Times New Roman" panose="02020603050405020304" pitchFamily="18" charset="0"/>
                        </a:rPr>
                        <a:t>,2019</a:t>
                      </a:r>
                      <a:endParaRPr lang="en-IN" sz="1800" dirty="0">
                        <a:latin typeface="+mj-lt"/>
                        <a:cs typeface="Times New Roman" panose="02020603050405020304" pitchFamily="18" charset="0"/>
                      </a:endParaRPr>
                    </a:p>
                  </a:txBody>
                  <a:tcPr/>
                </a:tc>
                <a:tc>
                  <a:txBody>
                    <a:bodyPr/>
                    <a:lstStyle/>
                    <a:p>
                      <a:endParaRPr lang="en-US" sz="1400" dirty="0" smtClean="0">
                        <a:latin typeface="Times New Roman" panose="02020603050405020304" pitchFamily="18" charset="0"/>
                        <a:cs typeface="Times New Roman" panose="02020603050405020304" pitchFamily="18" charset="0"/>
                      </a:endParaRPr>
                    </a:p>
                    <a:p>
                      <a:r>
                        <a:rPr lang="en-US" sz="1800" baseline="0" dirty="0" smtClean="0">
                          <a:latin typeface="Times New Roman" panose="02020603050405020304" pitchFamily="18" charset="0"/>
                          <a:cs typeface="Times New Roman" panose="02020603050405020304" pitchFamily="18" charset="0"/>
                        </a:rPr>
                        <a:t>     </a:t>
                      </a:r>
                    </a:p>
                    <a:p>
                      <a:r>
                        <a:rPr lang="en-US" sz="1800" baseline="0" dirty="0" smtClean="0">
                          <a:latin typeface="Times New Roman" panose="02020603050405020304" pitchFamily="18" charset="0"/>
                          <a:cs typeface="Times New Roman" panose="02020603050405020304" pitchFamily="18" charset="0"/>
                        </a:rPr>
                        <a:t>     5</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175175760"/>
                  </a:ext>
                </a:extLst>
              </a:tr>
            </a:tbl>
          </a:graphicData>
        </a:graphic>
      </p:graphicFrame>
      <p:sp>
        <p:nvSpPr>
          <p:cNvPr id="6" name="Content Placeholder 2"/>
          <p:cNvSpPr txBox="1">
            <a:spLocks/>
          </p:cNvSpPr>
          <p:nvPr/>
        </p:nvSpPr>
        <p:spPr>
          <a:xfrm>
            <a:off x="381681" y="2743200"/>
            <a:ext cx="8568952" cy="3124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00B0F0"/>
                </a:solidFill>
              </a:rPr>
              <a:t>Findings</a:t>
            </a:r>
            <a:r>
              <a:rPr lang="en-US" sz="2000" dirty="0" smtClean="0">
                <a:solidFill>
                  <a:srgbClr val="00B0F0"/>
                </a:solidFill>
              </a:rPr>
              <a:t>:</a:t>
            </a:r>
          </a:p>
          <a:p>
            <a:pPr algn="just"/>
            <a:r>
              <a:rPr lang="en-GB" sz="2000" dirty="0" smtClean="0">
                <a:latin typeface="Times New Roman" panose="02020603050405020304" pitchFamily="18" charset="0"/>
                <a:cs typeface="Times New Roman" panose="02020603050405020304" pitchFamily="18" charset="0"/>
              </a:rPr>
              <a:t>Main </a:t>
            </a:r>
            <a:r>
              <a:rPr lang="en-GB" sz="2000" dirty="0">
                <a:latin typeface="Times New Roman" panose="02020603050405020304" pitchFamily="18" charset="0"/>
                <a:cs typeface="Times New Roman" panose="02020603050405020304" pitchFamily="18" charset="0"/>
              </a:rPr>
              <a:t>concerns </a:t>
            </a:r>
            <a:r>
              <a:rPr lang="en-GB" sz="2000" dirty="0" smtClean="0">
                <a:latin typeface="Times New Roman" panose="02020603050405020304" pitchFamily="18" charset="0"/>
                <a:cs typeface="Times New Roman" panose="02020603050405020304" pitchFamily="18" charset="0"/>
              </a:rPr>
              <a:t>in these </a:t>
            </a:r>
            <a:r>
              <a:rPr lang="en-GB" sz="2000" dirty="0">
                <a:latin typeface="Times New Roman" panose="02020603050405020304" pitchFamily="18" charset="0"/>
                <a:cs typeface="Times New Roman" panose="02020603050405020304" pitchFamily="18" charset="0"/>
              </a:rPr>
              <a:t>works are to </a:t>
            </a:r>
            <a:r>
              <a:rPr lang="en-GB" sz="2000" b="1" dirty="0">
                <a:latin typeface="Times New Roman" panose="02020603050405020304" pitchFamily="18" charset="0"/>
                <a:cs typeface="Times New Roman" panose="02020603050405020304" pitchFamily="18" charset="0"/>
              </a:rPr>
              <a:t>test </a:t>
            </a:r>
            <a:r>
              <a:rPr lang="en-GB" sz="2000" b="1" dirty="0" smtClean="0">
                <a:latin typeface="Times New Roman" panose="02020603050405020304" pitchFamily="18" charset="0"/>
                <a:cs typeface="Times New Roman" panose="02020603050405020304" pitchFamily="18" charset="0"/>
              </a:rPr>
              <a:t>types </a:t>
            </a:r>
            <a:r>
              <a:rPr lang="en-GB" sz="2000" b="1" dirty="0">
                <a:latin typeface="Times New Roman" panose="02020603050405020304" pitchFamily="18" charset="0"/>
                <a:cs typeface="Times New Roman" panose="02020603050405020304" pitchFamily="18" charset="0"/>
              </a:rPr>
              <a:t>of </a:t>
            </a:r>
            <a:r>
              <a:rPr lang="en-GB" sz="2000" b="1" dirty="0" smtClean="0">
                <a:latin typeface="Times New Roman" panose="02020603050405020304" pitchFamily="18" charset="0"/>
                <a:cs typeface="Times New Roman" panose="02020603050405020304" pitchFamily="18" charset="0"/>
              </a:rPr>
              <a:t>algorithms</a:t>
            </a:r>
            <a:r>
              <a:rPr lang="en-GB" sz="2000" dirty="0" smtClean="0">
                <a:latin typeface="Times New Roman" panose="02020603050405020304" pitchFamily="18" charset="0"/>
                <a:cs typeface="Times New Roman" panose="02020603050405020304" pitchFamily="18" charset="0"/>
              </a:rPr>
              <a:t>, and </a:t>
            </a:r>
            <a:r>
              <a:rPr lang="en-GB" sz="2000" dirty="0">
                <a:latin typeface="Times New Roman" panose="02020603050405020304" pitchFamily="18" charset="0"/>
                <a:cs typeface="Times New Roman" panose="02020603050405020304" pitchFamily="18" charset="0"/>
              </a:rPr>
              <a:t>then ensemble </a:t>
            </a:r>
            <a:r>
              <a:rPr lang="en-GB" sz="2000" dirty="0" smtClean="0">
                <a:latin typeface="Times New Roman" panose="02020603050405020304" pitchFamily="18" charset="0"/>
                <a:cs typeface="Times New Roman" panose="02020603050405020304" pitchFamily="18" charset="0"/>
              </a:rPr>
              <a:t>different </a:t>
            </a:r>
            <a:r>
              <a:rPr lang="en-GB" sz="2000" dirty="0">
                <a:latin typeface="Times New Roman" panose="02020603050405020304" pitchFamily="18" charset="0"/>
                <a:cs typeface="Times New Roman" panose="02020603050405020304" pitchFamily="18" charset="0"/>
              </a:rPr>
              <a:t>results, rather than </a:t>
            </a:r>
            <a:r>
              <a:rPr lang="en-GB" sz="2000" dirty="0" smtClean="0">
                <a:latin typeface="Times New Roman" panose="02020603050405020304" pitchFamily="18" charset="0"/>
                <a:cs typeface="Times New Roman" panose="02020603050405020304" pitchFamily="18" charset="0"/>
              </a:rPr>
              <a:t>to train </a:t>
            </a:r>
            <a:r>
              <a:rPr lang="en-GB" sz="2000" dirty="0">
                <a:latin typeface="Times New Roman" panose="02020603050405020304" pitchFamily="18" charset="0"/>
                <a:cs typeface="Times New Roman" panose="02020603050405020304" pitchFamily="18" charset="0"/>
              </a:rPr>
              <a:t>single </a:t>
            </a:r>
            <a:r>
              <a:rPr lang="en-GB" sz="2000" dirty="0" smtClean="0">
                <a:latin typeface="Times New Roman" panose="02020603050405020304" pitchFamily="18" charset="0"/>
                <a:cs typeface="Times New Roman" panose="02020603050405020304" pitchFamily="18" charset="0"/>
              </a:rPr>
              <a:t>elective </a:t>
            </a:r>
            <a:r>
              <a:rPr lang="en-GB" sz="2000" dirty="0">
                <a:latin typeface="Times New Roman" panose="02020603050405020304" pitchFamily="18" charset="0"/>
                <a:cs typeface="Times New Roman" panose="02020603050405020304" pitchFamily="18" charset="0"/>
              </a:rPr>
              <a:t>model which can be of </a:t>
            </a:r>
            <a:r>
              <a:rPr lang="en-GB" sz="2000" dirty="0" smtClean="0">
                <a:latin typeface="Times New Roman" panose="02020603050405020304" pitchFamily="18" charset="0"/>
                <a:cs typeface="Times New Roman" panose="02020603050405020304" pitchFamily="18" charset="0"/>
              </a:rPr>
              <a:t>practical use </a:t>
            </a:r>
            <a:r>
              <a:rPr lang="en-GB" sz="2000" dirty="0">
                <a:latin typeface="Times New Roman" panose="02020603050405020304" pitchFamily="18" charset="0"/>
                <a:cs typeface="Times New Roman" panose="02020603050405020304" pitchFamily="18" charset="0"/>
              </a:rPr>
              <a:t>in real service</a:t>
            </a:r>
            <a:r>
              <a:rPr lang="en-GB" sz="2000" dirty="0" smtClean="0">
                <a:latin typeface="Times New Roman" panose="02020603050405020304" pitchFamily="18" charset="0"/>
                <a:cs typeface="Times New Roman" panose="02020603050405020304" pitchFamily="18" charset="0"/>
              </a:rPr>
              <a:t>.</a:t>
            </a:r>
          </a:p>
          <a:p>
            <a:r>
              <a:rPr lang="en-GB" sz="2000" dirty="0" smtClean="0">
                <a:latin typeface="Times New Roman" panose="02020603050405020304" pitchFamily="18" charset="0"/>
                <a:cs typeface="Times New Roman" panose="02020603050405020304" pitchFamily="18" charset="0"/>
              </a:rPr>
              <a:t>Using NLP it explores </a:t>
            </a:r>
            <a:r>
              <a:rPr lang="en-GB" sz="2000" dirty="0">
                <a:latin typeface="Times New Roman" panose="02020603050405020304" pitchFamily="18" charset="0"/>
                <a:cs typeface="Times New Roman" panose="02020603050405020304" pitchFamily="18" charset="0"/>
              </a:rPr>
              <a:t>more possibility on </a:t>
            </a:r>
            <a:r>
              <a:rPr lang="en-GB" sz="2000" b="1" dirty="0">
                <a:latin typeface="Times New Roman" panose="02020603050405020304" pitchFamily="18" charset="0"/>
                <a:cs typeface="Times New Roman" panose="02020603050405020304" pitchFamily="18" charset="0"/>
              </a:rPr>
              <a:t>text regression </a:t>
            </a:r>
            <a:r>
              <a:rPr lang="en-GB" sz="2000" dirty="0" smtClean="0">
                <a:latin typeface="Times New Roman" panose="02020603050405020304" pitchFamily="18" charset="0"/>
                <a:cs typeface="Times New Roman" panose="02020603050405020304" pitchFamily="18" charset="0"/>
              </a:rPr>
              <a:t>with combination </a:t>
            </a:r>
            <a:r>
              <a:rPr lang="en-GB" sz="2000" dirty="0">
                <a:latin typeface="Times New Roman" panose="02020603050405020304" pitchFamily="18" charset="0"/>
                <a:cs typeface="Times New Roman" panose="02020603050405020304" pitchFamily="18" charset="0"/>
              </a:rPr>
              <a:t>model is an important direction in </a:t>
            </a:r>
            <a:r>
              <a:rPr lang="en-GB" sz="2000" dirty="0" smtClean="0">
                <a:latin typeface="Times New Roman" panose="02020603050405020304" pitchFamily="18" charset="0"/>
                <a:cs typeface="Times New Roman" panose="02020603050405020304" pitchFamily="18" charset="0"/>
              </a:rPr>
              <a:t>both research </a:t>
            </a:r>
            <a:r>
              <a:rPr lang="en-GB" sz="2000" dirty="0">
                <a:latin typeface="Times New Roman" panose="02020603050405020304" pitchFamily="18" charset="0"/>
                <a:cs typeface="Times New Roman" panose="02020603050405020304" pitchFamily="18" charset="0"/>
              </a:rPr>
              <a:t>and application development</a:t>
            </a:r>
            <a:r>
              <a:rPr lang="en-GB" sz="2000" dirty="0" smtClean="0">
                <a:latin typeface="Times New Roman" panose="02020603050405020304" pitchFamily="18" charset="0"/>
                <a:cs typeface="Times New Roman" panose="02020603050405020304" pitchFamily="18" charset="0"/>
              </a:rPr>
              <a:t>.</a:t>
            </a:r>
            <a:r>
              <a:rPr lang="en-GB" sz="2000" dirty="0"/>
              <a:t> </a:t>
            </a:r>
            <a:r>
              <a:rPr lang="en-GB" sz="2000" dirty="0">
                <a:latin typeface="Times New Roman" panose="02020603050405020304" pitchFamily="18" charset="0"/>
                <a:cs typeface="Times New Roman" panose="02020603050405020304" pitchFamily="18" charset="0"/>
              </a:rPr>
              <a:t>We use Mean Absolute Error(MAE) </a:t>
            </a:r>
            <a:r>
              <a:rPr lang="en-GB" sz="2000" dirty="0" smtClean="0">
                <a:latin typeface="Times New Roman" panose="02020603050405020304" pitchFamily="18" charset="0"/>
                <a:cs typeface="Times New Roman" panose="02020603050405020304" pitchFamily="18" charset="0"/>
              </a:rPr>
              <a:t>as evaluation </a:t>
            </a:r>
            <a:r>
              <a:rPr lang="en-GB" sz="2000" dirty="0">
                <a:latin typeface="Times New Roman" panose="02020603050405020304" pitchFamily="18" charset="0"/>
                <a:cs typeface="Times New Roman" panose="02020603050405020304" pitchFamily="18" charset="0"/>
              </a:rPr>
              <a:t>standard in our experiments</a:t>
            </a:r>
          </a:p>
        </p:txBody>
      </p:sp>
    </p:spTree>
    <p:extLst>
      <p:ext uri="{BB962C8B-B14F-4D97-AF65-F5344CB8AC3E}">
        <p14:creationId xmlns:p14="http://schemas.microsoft.com/office/powerpoint/2010/main" val="25253729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graphicFrame>
        <p:nvGraphicFramePr>
          <p:cNvPr id="5" name="Table 4">
            <a:extLst>
              <a:ext uri="{FF2B5EF4-FFF2-40B4-BE49-F238E27FC236}">
                <a16:creationId xmlns="" xmlns:a16="http://schemas.microsoft.com/office/drawing/2014/main" id="{C6C0D9C6-C569-4F43-AB80-8253B1A39DE2}"/>
              </a:ext>
            </a:extLst>
          </p:cNvPr>
          <p:cNvGraphicFramePr>
            <a:graphicFrameLocks noGrp="1"/>
          </p:cNvGraphicFramePr>
          <p:nvPr>
            <p:extLst>
              <p:ext uri="{D42A27DB-BD31-4B8C-83A1-F6EECF244321}">
                <p14:modId xmlns:p14="http://schemas.microsoft.com/office/powerpoint/2010/main" val="768950938"/>
              </p:ext>
            </p:extLst>
          </p:nvPr>
        </p:nvGraphicFramePr>
        <p:xfrm>
          <a:off x="388608" y="1143000"/>
          <a:ext cx="8381318" cy="1296144"/>
        </p:xfrm>
        <a:graphic>
          <a:graphicData uri="http://schemas.openxmlformats.org/drawingml/2006/table">
            <a:tbl>
              <a:tblPr firstRow="1" bandRow="1">
                <a:tableStyleId>{5C22544A-7EE6-4342-B048-85BDC9FD1C3A}</a:tableStyleId>
              </a:tblPr>
              <a:tblGrid>
                <a:gridCol w="573275">
                  <a:extLst>
                    <a:ext uri="{9D8B030D-6E8A-4147-A177-3AD203B41FA5}">
                      <a16:colId xmlns="" xmlns:a16="http://schemas.microsoft.com/office/drawing/2014/main" val="3951964651"/>
                    </a:ext>
                  </a:extLst>
                </a:gridCol>
                <a:gridCol w="2781094">
                  <a:extLst>
                    <a:ext uri="{9D8B030D-6E8A-4147-A177-3AD203B41FA5}">
                      <a16:colId xmlns="" xmlns:a16="http://schemas.microsoft.com/office/drawing/2014/main" val="4156344499"/>
                    </a:ext>
                  </a:extLst>
                </a:gridCol>
                <a:gridCol w="1855662">
                  <a:extLst>
                    <a:ext uri="{9D8B030D-6E8A-4147-A177-3AD203B41FA5}">
                      <a16:colId xmlns="" xmlns:a16="http://schemas.microsoft.com/office/drawing/2014/main" val="1903120254"/>
                    </a:ext>
                  </a:extLst>
                </a:gridCol>
                <a:gridCol w="2041451">
                  <a:extLst>
                    <a:ext uri="{9D8B030D-6E8A-4147-A177-3AD203B41FA5}">
                      <a16:colId xmlns="" xmlns:a16="http://schemas.microsoft.com/office/drawing/2014/main" val="1156634797"/>
                    </a:ext>
                  </a:extLst>
                </a:gridCol>
                <a:gridCol w="1129836">
                  <a:extLst>
                    <a:ext uri="{9D8B030D-6E8A-4147-A177-3AD203B41FA5}">
                      <a16:colId xmlns="" xmlns:a16="http://schemas.microsoft.com/office/drawing/2014/main" val="3200517899"/>
                    </a:ext>
                  </a:extLst>
                </a:gridCol>
              </a:tblGrid>
              <a:tr h="1296144">
                <a:tc>
                  <a:txBody>
                    <a:bodyPr/>
                    <a:lstStyle/>
                    <a:p>
                      <a:r>
                        <a:rPr lang="en-US" sz="1400" dirty="0">
                          <a:latin typeface="Times New Roman" panose="02020603050405020304" pitchFamily="18" charset="0"/>
                          <a:cs typeface="Times New Roman" panose="02020603050405020304" pitchFamily="18" charset="0"/>
                        </a:rPr>
                        <a:t>  </a:t>
                      </a:r>
                      <a:endParaRPr lang="en-US" sz="1400" dirty="0" smtClean="0">
                        <a:latin typeface="Times New Roman" panose="02020603050405020304" pitchFamily="18" charset="0"/>
                        <a:cs typeface="Times New Roman" panose="02020603050405020304" pitchFamily="18" charset="0"/>
                      </a:endParaRPr>
                    </a:p>
                    <a:p>
                      <a:endParaRPr lang="en-US" sz="1400"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06</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GB" sz="1800" b="0" i="0" u="none" strike="noStrike" kern="1200" baseline="0" dirty="0" smtClean="0">
                        <a:solidFill>
                          <a:schemeClr val="lt1"/>
                        </a:solidFill>
                        <a:latin typeface="+mn-lt"/>
                        <a:ea typeface="+mn-ea"/>
                        <a:cs typeface="+mn-cs"/>
                      </a:endParaRPr>
                    </a:p>
                    <a:p>
                      <a:r>
                        <a:rPr lang="en-GB" sz="1800" b="1" i="0" u="none" strike="noStrike" kern="1200" baseline="0" dirty="0" smtClean="0">
                          <a:solidFill>
                            <a:schemeClr val="lt1"/>
                          </a:solidFill>
                          <a:latin typeface="+mn-lt"/>
                          <a:ea typeface="+mn-ea"/>
                          <a:cs typeface="+mn-cs"/>
                        </a:rPr>
                        <a:t>Modelling and Predicting Individual Salaries </a:t>
                      </a:r>
                      <a:endParaRPr lang="en-IN" sz="1800" b="1" dirty="0"/>
                    </a:p>
                  </a:txBody>
                  <a:tcPr/>
                </a:tc>
                <a:tc>
                  <a:txBody>
                    <a:bodyPr/>
                    <a:lstStyle/>
                    <a:p>
                      <a:endParaRPr lang="en-GB" sz="1800" b="0" i="0" u="none" strike="noStrike" kern="1200" baseline="0" dirty="0" smtClean="0">
                        <a:solidFill>
                          <a:schemeClr val="lt1"/>
                        </a:solidFill>
                        <a:latin typeface="+mn-lt"/>
                        <a:ea typeface="+mn-ea"/>
                        <a:cs typeface="+mn-cs"/>
                      </a:endParaRPr>
                    </a:p>
                    <a:p>
                      <a:r>
                        <a:rPr lang="en-GB" sz="1800" b="1" i="0" u="none" strike="noStrike" kern="1200" baseline="0" dirty="0" err="1" smtClean="0">
                          <a:solidFill>
                            <a:schemeClr val="lt1"/>
                          </a:solidFill>
                          <a:latin typeface="+mn-lt"/>
                          <a:ea typeface="+mn-ea"/>
                          <a:cs typeface="+mn-cs"/>
                        </a:rPr>
                        <a:t>Tapio</a:t>
                      </a:r>
                      <a:r>
                        <a:rPr lang="en-GB" sz="1800" b="1" i="0" u="none" strike="noStrike" kern="1200" baseline="0" dirty="0" smtClean="0">
                          <a:solidFill>
                            <a:schemeClr val="lt1"/>
                          </a:solidFill>
                          <a:latin typeface="+mn-lt"/>
                          <a:ea typeface="+mn-ea"/>
                          <a:cs typeface="+mn-cs"/>
                        </a:rPr>
                        <a:t> </a:t>
                      </a:r>
                      <a:r>
                        <a:rPr lang="en-GB" sz="1800" b="1" i="0" u="none" strike="noStrike" kern="1200" baseline="0" dirty="0" err="1" smtClean="0">
                          <a:solidFill>
                            <a:schemeClr val="lt1"/>
                          </a:solidFill>
                          <a:latin typeface="+mn-lt"/>
                          <a:ea typeface="+mn-ea"/>
                          <a:cs typeface="+mn-cs"/>
                        </a:rPr>
                        <a:t>Nummi</a:t>
                      </a:r>
                      <a:r>
                        <a:rPr lang="en-GB" sz="1800" b="1" i="0" u="none" strike="noStrike" kern="1200" baseline="0" dirty="0" smtClean="0">
                          <a:solidFill>
                            <a:schemeClr val="lt1"/>
                          </a:solidFill>
                          <a:latin typeface="+mn-lt"/>
                          <a:ea typeface="+mn-ea"/>
                          <a:cs typeface="+mn-cs"/>
                        </a:rPr>
                        <a:t> </a:t>
                      </a:r>
                    </a:p>
                    <a:p>
                      <a:r>
                        <a:rPr lang="en-GB" sz="1800" b="1" i="0" u="none" strike="noStrike" kern="1200" baseline="0" dirty="0" err="1" smtClean="0">
                          <a:solidFill>
                            <a:schemeClr val="lt1"/>
                          </a:solidFill>
                          <a:latin typeface="+mn-lt"/>
                          <a:ea typeface="+mn-ea"/>
                          <a:cs typeface="+mn-cs"/>
                        </a:rPr>
                        <a:t>Janne</a:t>
                      </a:r>
                      <a:r>
                        <a:rPr lang="en-GB" sz="1800" b="1" i="0" u="none" strike="noStrike" kern="1200" baseline="0" dirty="0" smtClean="0">
                          <a:solidFill>
                            <a:schemeClr val="lt1"/>
                          </a:solidFill>
                          <a:latin typeface="+mn-lt"/>
                          <a:ea typeface="+mn-ea"/>
                          <a:cs typeface="+mn-cs"/>
                        </a:rPr>
                        <a:t> </a:t>
                      </a:r>
                      <a:r>
                        <a:rPr lang="en-GB" sz="1800" b="1" i="0" u="none" strike="noStrike" kern="1200" baseline="0" dirty="0" err="1" smtClean="0">
                          <a:solidFill>
                            <a:schemeClr val="lt1"/>
                          </a:solidFill>
                          <a:latin typeface="+mn-lt"/>
                          <a:ea typeface="+mn-ea"/>
                          <a:cs typeface="+mn-cs"/>
                        </a:rPr>
                        <a:t>Salonen</a:t>
                      </a:r>
                      <a:r>
                        <a:rPr lang="en-GB" sz="1800" b="1" i="0" u="none" strike="noStrike" kern="1200" baseline="0" dirty="0" smtClean="0">
                          <a:solidFill>
                            <a:schemeClr val="lt1"/>
                          </a:solidFill>
                          <a:latin typeface="+mn-lt"/>
                          <a:ea typeface="+mn-ea"/>
                          <a:cs typeface="+mn-cs"/>
                        </a:rPr>
                        <a:t> </a:t>
                      </a:r>
                      <a:endParaRPr lang="en-IN" sz="1700" b="1" dirty="0">
                        <a:latin typeface="Times New Roman" panose="02020603050405020304" pitchFamily="18" charset="0"/>
                        <a:cs typeface="Times New Roman" panose="02020603050405020304" pitchFamily="18" charset="0"/>
                      </a:endParaRPr>
                    </a:p>
                  </a:txBody>
                  <a:tcPr/>
                </a:tc>
                <a:tc>
                  <a:txBody>
                    <a:bodyPr/>
                    <a:lstStyle/>
                    <a:p>
                      <a:endParaRPr lang="en-US" sz="1600" baseline="0" dirty="0" smtClean="0">
                        <a:latin typeface="+mj-lt"/>
                        <a:cs typeface="Times New Roman" panose="02020603050405020304" pitchFamily="18" charset="0"/>
                      </a:endParaRPr>
                    </a:p>
                    <a:p>
                      <a:endParaRPr lang="en-US" sz="1800" baseline="0" dirty="0" smtClean="0">
                        <a:latin typeface="+mj-lt"/>
                        <a:cs typeface="Times New Roman" panose="02020603050405020304" pitchFamily="18" charset="0"/>
                      </a:endParaRPr>
                    </a:p>
                    <a:p>
                      <a:r>
                        <a:rPr lang="en-US" sz="1800" baseline="0" dirty="0" smtClean="0">
                          <a:latin typeface="+mj-lt"/>
                          <a:cs typeface="Times New Roman" panose="02020603050405020304" pitchFamily="18" charset="0"/>
                        </a:rPr>
                        <a:t>May 16</a:t>
                      </a:r>
                      <a:r>
                        <a:rPr lang="en-US" sz="1800" dirty="0" smtClean="0">
                          <a:latin typeface="+mj-lt"/>
                          <a:cs typeface="Times New Roman" panose="02020603050405020304" pitchFamily="18" charset="0"/>
                        </a:rPr>
                        <a:t>,2020</a:t>
                      </a:r>
                      <a:endParaRPr lang="en-IN" sz="1800" dirty="0">
                        <a:latin typeface="+mj-lt"/>
                        <a:cs typeface="Times New Roman" panose="02020603050405020304" pitchFamily="18" charset="0"/>
                      </a:endParaRPr>
                    </a:p>
                  </a:txBody>
                  <a:tcPr/>
                </a:tc>
                <a:tc>
                  <a:txBody>
                    <a:bodyPr/>
                    <a:lstStyle/>
                    <a:p>
                      <a:endParaRPr lang="en-US" sz="1400" dirty="0" smtClean="0">
                        <a:latin typeface="Times New Roman" panose="02020603050405020304" pitchFamily="18" charset="0"/>
                        <a:cs typeface="Times New Roman" panose="02020603050405020304" pitchFamily="18" charset="0"/>
                      </a:endParaRPr>
                    </a:p>
                    <a:p>
                      <a:r>
                        <a:rPr lang="en-US" sz="1800" baseline="0" dirty="0" smtClean="0">
                          <a:latin typeface="Times New Roman" panose="02020603050405020304" pitchFamily="18" charset="0"/>
                          <a:cs typeface="Times New Roman" panose="02020603050405020304" pitchFamily="18" charset="0"/>
                        </a:rPr>
                        <a:t>     </a:t>
                      </a:r>
                    </a:p>
                    <a:p>
                      <a:r>
                        <a:rPr lang="en-US" sz="1800" baseline="0" dirty="0" smtClean="0">
                          <a:latin typeface="Times New Roman" panose="02020603050405020304" pitchFamily="18" charset="0"/>
                          <a:cs typeface="Times New Roman" panose="02020603050405020304" pitchFamily="18" charset="0"/>
                        </a:rPr>
                        <a:t>     3</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175175760"/>
                  </a:ext>
                </a:extLst>
              </a:tr>
            </a:tbl>
          </a:graphicData>
        </a:graphic>
      </p:graphicFrame>
      <p:sp>
        <p:nvSpPr>
          <p:cNvPr id="6" name="Content Placeholder 2"/>
          <p:cNvSpPr txBox="1">
            <a:spLocks/>
          </p:cNvSpPr>
          <p:nvPr/>
        </p:nvSpPr>
        <p:spPr>
          <a:xfrm>
            <a:off x="381681" y="2590800"/>
            <a:ext cx="8568952" cy="3124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000" dirty="0" smtClean="0">
                <a:solidFill>
                  <a:srgbClr val="00B0F0"/>
                </a:solidFill>
                <a:latin typeface="Times New Roman" panose="02020603050405020304" pitchFamily="18" charset="0"/>
                <a:cs typeface="Times New Roman" panose="02020603050405020304" pitchFamily="18" charset="0"/>
              </a:rPr>
              <a:t>Findings:</a:t>
            </a:r>
          </a:p>
          <a:p>
            <a:pPr>
              <a:buFont typeface="Wingdings" panose="05000000000000000000" pitchFamily="2" charset="2"/>
              <a:buChar char="ü"/>
            </a:pPr>
            <a:r>
              <a:rPr lang="en-GB" sz="2000" dirty="0">
                <a:latin typeface="Times New Roman" panose="02020603050405020304" pitchFamily="18" charset="0"/>
                <a:cs typeface="Times New Roman" panose="02020603050405020304" pitchFamily="18" charset="0"/>
              </a:rPr>
              <a:t>Clearly </a:t>
            </a:r>
            <a:r>
              <a:rPr lang="en-GB" sz="2000" b="1" dirty="0">
                <a:latin typeface="Times New Roman" panose="02020603050405020304" pitchFamily="18" charset="0"/>
                <a:cs typeface="Times New Roman" panose="02020603050405020304" pitchFamily="18" charset="0"/>
              </a:rPr>
              <a:t>individual wage </a:t>
            </a:r>
            <a:r>
              <a:rPr lang="en-GB" sz="2000" dirty="0">
                <a:latin typeface="Times New Roman" panose="02020603050405020304" pitchFamily="18" charset="0"/>
                <a:cs typeface="Times New Roman" panose="02020603050405020304" pitchFamily="18" charset="0"/>
              </a:rPr>
              <a:t>profiles are needed in pension system development but the </a:t>
            </a:r>
            <a:r>
              <a:rPr lang="en-GB" sz="2000" dirty="0" smtClean="0">
                <a:latin typeface="Times New Roman" panose="02020603050405020304" pitchFamily="18" charset="0"/>
                <a:cs typeface="Times New Roman" panose="02020603050405020304" pitchFamily="18" charset="0"/>
              </a:rPr>
              <a:t>modelling </a:t>
            </a:r>
            <a:r>
              <a:rPr lang="en-GB" sz="2000" dirty="0">
                <a:latin typeface="Times New Roman" panose="02020603050405020304" pitchFamily="18" charset="0"/>
                <a:cs typeface="Times New Roman" panose="02020603050405020304" pitchFamily="18" charset="0"/>
              </a:rPr>
              <a:t>is often limited by lack of adequate </a:t>
            </a:r>
            <a:r>
              <a:rPr lang="en-GB" sz="2000" dirty="0" smtClean="0">
                <a:latin typeface="Times New Roman" panose="02020603050405020304" pitchFamily="18" charset="0"/>
                <a:cs typeface="Times New Roman" panose="02020603050405020304" pitchFamily="18" charset="0"/>
              </a:rPr>
              <a:t>data.</a:t>
            </a:r>
            <a:r>
              <a:rPr lang="en-GB" sz="2000" dirty="0">
                <a:latin typeface="Times New Roman" panose="02020603050405020304" pitchFamily="18" charset="0"/>
                <a:cs typeface="Times New Roman" panose="02020603050405020304" pitchFamily="18" charset="0"/>
              </a:rPr>
              <a:t> </a:t>
            </a:r>
            <a:endParaRPr lang="en-GB"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sz="2000" dirty="0" smtClean="0">
                <a:latin typeface="Times New Roman" panose="02020603050405020304" pitchFamily="18" charset="0"/>
                <a:cs typeface="Times New Roman" panose="02020603050405020304" pitchFamily="18" charset="0"/>
              </a:rPr>
              <a:t>We </a:t>
            </a:r>
            <a:r>
              <a:rPr lang="en-GB" sz="2000" dirty="0">
                <a:latin typeface="Times New Roman" panose="02020603050405020304" pitchFamily="18" charset="0"/>
                <a:cs typeface="Times New Roman" panose="02020603050405020304" pitchFamily="18" charset="0"/>
              </a:rPr>
              <a:t>have focused on the problem of </a:t>
            </a:r>
            <a:r>
              <a:rPr lang="en-GB" sz="2000" dirty="0" smtClean="0">
                <a:latin typeface="Times New Roman" panose="02020603050405020304" pitchFamily="18" charset="0"/>
                <a:cs typeface="Times New Roman" panose="02020603050405020304" pitchFamily="18" charset="0"/>
              </a:rPr>
              <a:t>modelling </a:t>
            </a:r>
            <a:r>
              <a:rPr lang="en-GB" sz="2000" dirty="0">
                <a:latin typeface="Times New Roman" panose="02020603050405020304" pitchFamily="18" charset="0"/>
                <a:cs typeface="Times New Roman" panose="02020603050405020304" pitchFamily="18" charset="0"/>
              </a:rPr>
              <a:t>and predicting </a:t>
            </a:r>
            <a:r>
              <a:rPr lang="en-GB" sz="2000" b="1" dirty="0">
                <a:latin typeface="Times New Roman" panose="02020603050405020304" pitchFamily="18" charset="0"/>
                <a:cs typeface="Times New Roman" panose="02020603050405020304" pitchFamily="18" charset="0"/>
              </a:rPr>
              <a:t>future salaries </a:t>
            </a:r>
            <a:r>
              <a:rPr lang="en-GB" sz="2000" dirty="0">
                <a:latin typeface="Times New Roman" panose="02020603050405020304" pitchFamily="18" charset="0"/>
                <a:cs typeface="Times New Roman" panose="02020603050405020304" pitchFamily="18" charset="0"/>
              </a:rPr>
              <a:t>of individuals given past salaries </a:t>
            </a:r>
            <a:endParaRPr lang="en-GB" sz="2000" dirty="0" smtClean="0">
              <a:latin typeface="Times New Roman" panose="02020603050405020304" pitchFamily="18" charset="0"/>
              <a:cs typeface="Times New Roman" panose="02020603050405020304" pitchFamily="18" charset="0"/>
            </a:endParaRP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Problem:</a:t>
            </a:r>
            <a:r>
              <a:rPr lang="en-US" sz="2000" dirty="0" smtClean="0">
                <a:latin typeface="Times New Roman" panose="02020603050405020304" pitchFamily="18" charset="0"/>
                <a:cs typeface="Times New Roman" panose="02020603050405020304" pitchFamily="18" charset="0"/>
              </a:rPr>
              <a:t> </a:t>
            </a:r>
            <a:endParaRPr lang="en-GB"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sz="2000" dirty="0">
                <a:latin typeface="Times New Roman" panose="02020603050405020304" pitchFamily="18" charset="0"/>
                <a:cs typeface="Times New Roman" panose="02020603050405020304" pitchFamily="18" charset="0"/>
              </a:rPr>
              <a:t>T</a:t>
            </a:r>
            <a:r>
              <a:rPr lang="en-GB" sz="2000" dirty="0" smtClean="0">
                <a:latin typeface="Times New Roman" panose="02020603050405020304" pitchFamily="18" charset="0"/>
                <a:cs typeface="Times New Roman" panose="02020603050405020304" pitchFamily="18" charset="0"/>
              </a:rPr>
              <a:t>he </a:t>
            </a:r>
            <a:r>
              <a:rPr lang="en-GB" sz="2000" dirty="0">
                <a:latin typeface="Times New Roman" panose="02020603050405020304" pitchFamily="18" charset="0"/>
                <a:cs typeface="Times New Roman" panose="02020603050405020304" pitchFamily="18" charset="0"/>
              </a:rPr>
              <a:t>problem of salary projections is very old in pension insurance and different types of models have been proposed in the literature for describing average salary profiles. </a:t>
            </a:r>
            <a:r>
              <a:rPr lang="en-GB" sz="2000" dirty="0" smtClean="0">
                <a:latin typeface="Times New Roman" panose="02020603050405020304" pitchFamily="18" charset="0"/>
                <a:cs typeface="Times New Roman" panose="02020603050405020304" pitchFamily="18" charset="0"/>
              </a:rPr>
              <a:t>Describes low , middle waged quarters and high wages</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53729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990600"/>
            <a:ext cx="8621486" cy="4343400"/>
          </a:xfrm>
          <a:prstGeom prst="rect">
            <a:avLst/>
          </a:prstGeom>
        </p:spPr>
      </p:pic>
      <p:sp>
        <p:nvSpPr>
          <p:cNvPr id="5" name="Title 1"/>
          <p:cNvSpPr>
            <a:spLocks noGrp="1"/>
          </p:cNvSpPr>
          <p:nvPr>
            <p:ph type="title"/>
          </p:nvPr>
        </p:nvSpPr>
        <p:spPr>
          <a:xfrm>
            <a:off x="0" y="0"/>
            <a:ext cx="9144000" cy="1143000"/>
          </a:xfrm>
        </p:spPr>
        <p:txBody>
          <a:bodyPr>
            <a:normAutofit/>
          </a:bodyPr>
          <a:lstStyle/>
          <a:p>
            <a:r>
              <a:rPr lang="en-US" sz="3600" dirty="0" smtClean="0">
                <a:latin typeface="Algerian" panose="04020705040A02060702" pitchFamily="82" charset="0"/>
              </a:rPr>
              <a:t>Terms used to predict</a:t>
            </a:r>
            <a:endParaRPr lang="en-GB" sz="4000" dirty="0">
              <a:latin typeface="Algerian" panose="04020705040A02060702" pitchFamily="82" charset="0"/>
            </a:endParaRPr>
          </a:p>
        </p:txBody>
      </p:sp>
      <p:sp>
        <p:nvSpPr>
          <p:cNvPr id="6" name="Title 1"/>
          <p:cNvSpPr txBox="1">
            <a:spLocks/>
          </p:cNvSpPr>
          <p:nvPr/>
        </p:nvSpPr>
        <p:spPr>
          <a:xfrm>
            <a:off x="0" y="5334000"/>
            <a:ext cx="91440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smtClean="0">
                <a:latin typeface="Times New Roman" panose="02020603050405020304" pitchFamily="18" charset="0"/>
                <a:cs typeface="Times New Roman" panose="02020603050405020304" pitchFamily="18" charset="0"/>
              </a:rPr>
              <a:t>Plays an important role to be part of company. These factors helps to project the need of salary based on skill and competences.</a:t>
            </a:r>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8922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t>ER DIAGRAM</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95400"/>
            <a:ext cx="9144000" cy="5334000"/>
          </a:xfrm>
        </p:spPr>
      </p:pic>
    </p:spTree>
    <p:extLst>
      <p:ext uri="{BB962C8B-B14F-4D97-AF65-F5344CB8AC3E}">
        <p14:creationId xmlns:p14="http://schemas.microsoft.com/office/powerpoint/2010/main" val="2732163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868362"/>
          </a:xfrm>
        </p:spPr>
        <p:txBody>
          <a:bodyPr/>
          <a:lstStyle/>
          <a:p>
            <a:r>
              <a:rPr lang="en-US" dirty="0" smtClean="0"/>
              <a:t>USE CASE </a:t>
            </a:r>
            <a:r>
              <a:rPr lang="en-US" dirty="0"/>
              <a:t>DIAGRAM</a:t>
            </a:r>
            <a:endParaRPr lang="en-GB"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1371600"/>
            <a:ext cx="8763000" cy="5334000"/>
          </a:xfrm>
        </p:spPr>
      </p:pic>
    </p:spTree>
    <p:extLst>
      <p:ext uri="{BB962C8B-B14F-4D97-AF65-F5344CB8AC3E}">
        <p14:creationId xmlns:p14="http://schemas.microsoft.com/office/powerpoint/2010/main" val="300031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077200" cy="868362"/>
          </a:xfrm>
        </p:spPr>
        <p:txBody>
          <a:bodyPr/>
          <a:lstStyle/>
          <a:p>
            <a:r>
              <a:rPr lang="en-US" dirty="0" smtClean="0"/>
              <a:t>CLASS DIAGRAM</a:t>
            </a:r>
            <a:endParaRPr lang="en-GB"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1143000"/>
            <a:ext cx="8686800" cy="5486400"/>
          </a:xfrm>
        </p:spPr>
      </p:pic>
    </p:spTree>
    <p:extLst>
      <p:ext uri="{BB962C8B-B14F-4D97-AF65-F5344CB8AC3E}">
        <p14:creationId xmlns:p14="http://schemas.microsoft.com/office/powerpoint/2010/main" val="1719162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600200"/>
            <a:ext cx="8077200" cy="4876800"/>
          </a:xfrm>
        </p:spPr>
      </p:pic>
    </p:spTree>
    <p:extLst>
      <p:ext uri="{BB962C8B-B14F-4D97-AF65-F5344CB8AC3E}">
        <p14:creationId xmlns:p14="http://schemas.microsoft.com/office/powerpoint/2010/main" val="1765118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
        <p:nvSpPr>
          <p:cNvPr id="5" name="Title 1"/>
          <p:cNvSpPr>
            <a:spLocks noGrp="1"/>
          </p:cNvSpPr>
          <p:nvPr>
            <p:ph type="title"/>
          </p:nvPr>
        </p:nvSpPr>
        <p:spPr>
          <a:xfrm>
            <a:off x="0" y="0"/>
            <a:ext cx="9144000" cy="1143000"/>
          </a:xfrm>
        </p:spPr>
        <p:txBody>
          <a:bodyPr>
            <a:normAutofit/>
          </a:bodyPr>
          <a:lstStyle/>
          <a:p>
            <a:r>
              <a:rPr lang="en-US" sz="3600" dirty="0" smtClean="0">
                <a:solidFill>
                  <a:schemeClr val="bg1"/>
                </a:solidFill>
                <a:latin typeface="Algerian" panose="04020705040A02060702" pitchFamily="82" charset="0"/>
              </a:rPr>
              <a:t>Conclusion</a:t>
            </a:r>
            <a:endParaRPr lang="en-GB" sz="4000" dirty="0">
              <a:solidFill>
                <a:schemeClr val="bg1"/>
              </a:solidFill>
              <a:latin typeface="Algerian" panose="04020705040A02060702" pitchFamily="82" charset="0"/>
            </a:endParaRPr>
          </a:p>
        </p:txBody>
      </p:sp>
      <p:sp>
        <p:nvSpPr>
          <p:cNvPr id="6" name="Rectangle 5"/>
          <p:cNvSpPr/>
          <p:nvPr/>
        </p:nvSpPr>
        <p:spPr>
          <a:xfrm>
            <a:off x="228600" y="1143000"/>
            <a:ext cx="8763000" cy="4362733"/>
          </a:xfrm>
          <a:prstGeom prst="rect">
            <a:avLst/>
          </a:prstGeom>
        </p:spPr>
        <p:txBody>
          <a:bodyPr wrap="square">
            <a:spAutoFit/>
          </a:bodyPr>
          <a:lstStyle/>
          <a:p>
            <a:pPr algn="just"/>
            <a:r>
              <a:rPr lang="en-GB" sz="2100" dirty="0" smtClean="0"/>
              <a:t>	</a:t>
            </a:r>
          </a:p>
          <a:p>
            <a:pPr algn="just">
              <a:lnSpc>
                <a:spcPct val="150000"/>
              </a:lnSpc>
            </a:pPr>
            <a:r>
              <a:rPr lang="en-GB" dirty="0"/>
              <a:t>	</a:t>
            </a:r>
            <a:r>
              <a:rPr lang="en-GB" sz="1900" dirty="0" smtClean="0"/>
              <a:t>It </a:t>
            </a:r>
            <a:r>
              <a:rPr lang="en-GB" sz="1900" dirty="0"/>
              <a:t>is evident that industries cannot survive in the long run if they do not possess </a:t>
            </a:r>
            <a:r>
              <a:rPr lang="en-GB" sz="1900" b="1" dirty="0"/>
              <a:t>predictive analytics </a:t>
            </a:r>
            <a:r>
              <a:rPr lang="en-GB" sz="1900" dirty="0"/>
              <a:t>skills from the human resource management. </a:t>
            </a:r>
            <a:r>
              <a:rPr lang="en-GB" sz="1900" b="1" dirty="0" smtClean="0"/>
              <a:t>Employee </a:t>
            </a:r>
            <a:r>
              <a:rPr lang="en-GB" sz="1900" b="1" dirty="0"/>
              <a:t>attrition </a:t>
            </a:r>
            <a:r>
              <a:rPr lang="en-GB" sz="1900" dirty="0"/>
              <a:t>is one of the biggest challenges organizations face currently. The cost of the loss of an employee and replacing them with another one can turn the focus away from the organization’s bottom line. Instead, </a:t>
            </a:r>
            <a:r>
              <a:rPr lang="en-GB" sz="1900" dirty="0" smtClean="0"/>
              <a:t>analytics </a:t>
            </a:r>
            <a:r>
              <a:rPr lang="en-GB" sz="1900" dirty="0"/>
              <a:t>can be used to prevent this in the first place by identifying at-risk employees. By </a:t>
            </a:r>
            <a:r>
              <a:rPr lang="en-GB" sz="1900" dirty="0" smtClean="0"/>
              <a:t>analysing </a:t>
            </a:r>
            <a:r>
              <a:rPr lang="en-GB" sz="1900" dirty="0"/>
              <a:t>factors such as pay, promotions, company environment, and relationships with managers, predictive analytics can reveal who may be the most likely to leave the organization, serving as a game changer in the personalization of the engagement process for those employees and their retention.</a:t>
            </a:r>
            <a:endParaRPr lang="en-GB" sz="1900" dirty="0"/>
          </a:p>
        </p:txBody>
      </p:sp>
    </p:spTree>
    <p:extLst>
      <p:ext uri="{BB962C8B-B14F-4D97-AF65-F5344CB8AC3E}">
        <p14:creationId xmlns:p14="http://schemas.microsoft.com/office/powerpoint/2010/main" val="30437105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021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674</Words>
  <Application>Microsoft Office PowerPoint</Application>
  <PresentationFormat>On-screen Show (4:3)</PresentationFormat>
  <Paragraphs>128</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ABSTRACT</vt:lpstr>
      <vt:lpstr>Purpose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Terms used to predict</vt:lpstr>
      <vt:lpstr>ER DIAGRAM</vt:lpstr>
      <vt:lpstr>USE CASE DIAGRAM</vt:lpstr>
      <vt:lpstr>CLASS DIAGRAM</vt:lpstr>
      <vt:lpstr>SEQUENCE DIAGRAM</vt:lpstr>
      <vt:lpstr>Conclusion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39</cp:revision>
  <dcterms:created xsi:type="dcterms:W3CDTF">2021-01-23T05:56:33Z</dcterms:created>
  <dcterms:modified xsi:type="dcterms:W3CDTF">2021-03-27T06:13:56Z</dcterms:modified>
</cp:coreProperties>
</file>