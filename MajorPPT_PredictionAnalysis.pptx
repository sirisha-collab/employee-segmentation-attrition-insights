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0"/>
  </p:notesMasterIdLst>
  <p:sldIdLst>
    <p:sldId id="301" r:id="rId2"/>
    <p:sldId id="285" r:id="rId3"/>
    <p:sldId id="259" r:id="rId4"/>
    <p:sldId id="295" r:id="rId5"/>
    <p:sldId id="260" r:id="rId6"/>
    <p:sldId id="293" r:id="rId7"/>
    <p:sldId id="290" r:id="rId8"/>
    <p:sldId id="279" r:id="rId9"/>
    <p:sldId id="294" r:id="rId10"/>
    <p:sldId id="298" r:id="rId11"/>
    <p:sldId id="297" r:id="rId12"/>
    <p:sldId id="299" r:id="rId13"/>
    <p:sldId id="278" r:id="rId14"/>
    <p:sldId id="281" r:id="rId15"/>
    <p:sldId id="266" r:id="rId16"/>
    <p:sldId id="286" r:id="rId17"/>
    <p:sldId id="289" r:id="rId18"/>
    <p:sldId id="300"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9C5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D3ABAF-436F-44EF-A9D5-30F8BCCB2358}" type="datetimeFigureOut">
              <a:rPr lang="en-GB" smtClean="0"/>
              <a:t>04/01/2022</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C27835C-9E6C-4A92-A49D-EF8A70337826}" type="slidenum">
              <a:rPr lang="en-GB" smtClean="0"/>
              <a:t>‹#›</a:t>
            </a:fld>
            <a:endParaRPr lang="en-GB"/>
          </a:p>
        </p:txBody>
      </p:sp>
    </p:spTree>
    <p:extLst>
      <p:ext uri="{BB962C8B-B14F-4D97-AF65-F5344CB8AC3E}">
        <p14:creationId xmlns:p14="http://schemas.microsoft.com/office/powerpoint/2010/main" val="3237070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C10C8177-C98C-4DE5-B126-C3FF04D9745F}" type="datetime1">
              <a:rPr lang="en-GB" smtClean="0"/>
              <a:t>04/01/2022</a:t>
            </a:fld>
            <a:endParaRPr lang="en-GB"/>
          </a:p>
        </p:txBody>
      </p:sp>
      <p:sp>
        <p:nvSpPr>
          <p:cNvPr id="5" name="Footer Placeholder 4"/>
          <p:cNvSpPr>
            <a:spLocks noGrp="1"/>
          </p:cNvSpPr>
          <p:nvPr>
            <p:ph type="ftr" sz="quarter" idx="11"/>
          </p:nvPr>
        </p:nvSpPr>
        <p:spPr/>
        <p:txBody>
          <a:bodyPr/>
          <a:lstStyle/>
          <a:p>
            <a:r>
              <a:rPr lang="en-GB" smtClean="0"/>
              <a:t>M.Tech(CSE) Major Project</a:t>
            </a:r>
            <a:endParaRPr lang="en-GB"/>
          </a:p>
        </p:txBody>
      </p:sp>
      <p:sp>
        <p:nvSpPr>
          <p:cNvPr id="6" name="Slide Number Placeholder 5"/>
          <p:cNvSpPr>
            <a:spLocks noGrp="1"/>
          </p:cNvSpPr>
          <p:nvPr>
            <p:ph type="sldNum" sz="quarter" idx="12"/>
          </p:nvPr>
        </p:nvSpPr>
        <p:spPr/>
        <p:txBody>
          <a:bodyPr/>
          <a:lstStyle/>
          <a:p>
            <a:fld id="{3C34788B-A328-40B4-96DA-57139D3AAE30}" type="slidenum">
              <a:rPr lang="en-GB" smtClean="0"/>
              <a:t>‹#›</a:t>
            </a:fld>
            <a:endParaRPr lang="en-GB"/>
          </a:p>
        </p:txBody>
      </p:sp>
    </p:spTree>
    <p:extLst>
      <p:ext uri="{BB962C8B-B14F-4D97-AF65-F5344CB8AC3E}">
        <p14:creationId xmlns:p14="http://schemas.microsoft.com/office/powerpoint/2010/main" val="33444200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038D3E0-3B23-426A-82B8-B44BF668DBF2}" type="datetime1">
              <a:rPr lang="en-GB" smtClean="0"/>
              <a:t>04/01/2022</a:t>
            </a:fld>
            <a:endParaRPr lang="en-GB"/>
          </a:p>
        </p:txBody>
      </p:sp>
      <p:sp>
        <p:nvSpPr>
          <p:cNvPr id="5" name="Footer Placeholder 4"/>
          <p:cNvSpPr>
            <a:spLocks noGrp="1"/>
          </p:cNvSpPr>
          <p:nvPr>
            <p:ph type="ftr" sz="quarter" idx="11"/>
          </p:nvPr>
        </p:nvSpPr>
        <p:spPr/>
        <p:txBody>
          <a:bodyPr/>
          <a:lstStyle/>
          <a:p>
            <a:r>
              <a:rPr lang="en-GB" smtClean="0"/>
              <a:t>M.Tech(CSE) Major Project</a:t>
            </a:r>
            <a:endParaRPr lang="en-GB"/>
          </a:p>
        </p:txBody>
      </p:sp>
      <p:sp>
        <p:nvSpPr>
          <p:cNvPr id="6" name="Slide Number Placeholder 5"/>
          <p:cNvSpPr>
            <a:spLocks noGrp="1"/>
          </p:cNvSpPr>
          <p:nvPr>
            <p:ph type="sldNum" sz="quarter" idx="12"/>
          </p:nvPr>
        </p:nvSpPr>
        <p:spPr/>
        <p:txBody>
          <a:bodyPr/>
          <a:lstStyle/>
          <a:p>
            <a:fld id="{3C34788B-A328-40B4-96DA-57139D3AAE30}" type="slidenum">
              <a:rPr lang="en-GB" smtClean="0"/>
              <a:t>‹#›</a:t>
            </a:fld>
            <a:endParaRPr lang="en-GB"/>
          </a:p>
        </p:txBody>
      </p:sp>
    </p:spTree>
    <p:extLst>
      <p:ext uri="{BB962C8B-B14F-4D97-AF65-F5344CB8AC3E}">
        <p14:creationId xmlns:p14="http://schemas.microsoft.com/office/powerpoint/2010/main" val="8447909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712BDE2-7C3F-4F92-8AB5-FEEFF556F110}" type="datetime1">
              <a:rPr lang="en-GB" smtClean="0"/>
              <a:t>04/01/2022</a:t>
            </a:fld>
            <a:endParaRPr lang="en-GB"/>
          </a:p>
        </p:txBody>
      </p:sp>
      <p:sp>
        <p:nvSpPr>
          <p:cNvPr id="5" name="Footer Placeholder 4"/>
          <p:cNvSpPr>
            <a:spLocks noGrp="1"/>
          </p:cNvSpPr>
          <p:nvPr>
            <p:ph type="ftr" sz="quarter" idx="11"/>
          </p:nvPr>
        </p:nvSpPr>
        <p:spPr/>
        <p:txBody>
          <a:bodyPr/>
          <a:lstStyle/>
          <a:p>
            <a:r>
              <a:rPr lang="en-GB" smtClean="0"/>
              <a:t>M.Tech(CSE) Major Project</a:t>
            </a:r>
            <a:endParaRPr lang="en-GB"/>
          </a:p>
        </p:txBody>
      </p:sp>
      <p:sp>
        <p:nvSpPr>
          <p:cNvPr id="6" name="Slide Number Placeholder 5"/>
          <p:cNvSpPr>
            <a:spLocks noGrp="1"/>
          </p:cNvSpPr>
          <p:nvPr>
            <p:ph type="sldNum" sz="quarter" idx="12"/>
          </p:nvPr>
        </p:nvSpPr>
        <p:spPr/>
        <p:txBody>
          <a:bodyPr/>
          <a:lstStyle/>
          <a:p>
            <a:fld id="{3C34788B-A328-40B4-96DA-57139D3AAE30}" type="slidenum">
              <a:rPr lang="en-GB" smtClean="0"/>
              <a:t>‹#›</a:t>
            </a:fld>
            <a:endParaRPr lang="en-GB"/>
          </a:p>
        </p:txBody>
      </p:sp>
    </p:spTree>
    <p:extLst>
      <p:ext uri="{BB962C8B-B14F-4D97-AF65-F5344CB8AC3E}">
        <p14:creationId xmlns:p14="http://schemas.microsoft.com/office/powerpoint/2010/main" val="3886571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4FC9DD68-39AF-419A-ABC9-92FE68132456}" type="datetime1">
              <a:rPr lang="en-GB" smtClean="0"/>
              <a:t>04/01/2022</a:t>
            </a:fld>
            <a:endParaRPr lang="en-GB"/>
          </a:p>
        </p:txBody>
      </p:sp>
      <p:sp>
        <p:nvSpPr>
          <p:cNvPr id="6" name="Footer Placeholder 5"/>
          <p:cNvSpPr>
            <a:spLocks noGrp="1"/>
          </p:cNvSpPr>
          <p:nvPr>
            <p:ph type="ftr" sz="quarter" idx="11"/>
          </p:nvPr>
        </p:nvSpPr>
        <p:spPr/>
        <p:txBody>
          <a:bodyPr/>
          <a:lstStyle/>
          <a:p>
            <a:r>
              <a:rPr lang="en-GB" smtClean="0"/>
              <a:t>M.Tech(CSE) Major Project</a:t>
            </a:r>
            <a:endParaRPr lang="en-GB"/>
          </a:p>
        </p:txBody>
      </p:sp>
      <p:sp>
        <p:nvSpPr>
          <p:cNvPr id="7" name="Slide Number Placeholder 6"/>
          <p:cNvSpPr>
            <a:spLocks noGrp="1"/>
          </p:cNvSpPr>
          <p:nvPr>
            <p:ph type="sldNum" sz="quarter" idx="12"/>
          </p:nvPr>
        </p:nvSpPr>
        <p:spPr/>
        <p:txBody>
          <a:bodyPr/>
          <a:lstStyle/>
          <a:p>
            <a:fld id="{3C34788B-A328-40B4-96DA-57139D3AAE30}" type="slidenum">
              <a:rPr lang="en-GB" smtClean="0"/>
              <a:t>‹#›</a:t>
            </a:fld>
            <a:endParaRPr lang="en-GB"/>
          </a:p>
        </p:txBody>
      </p:sp>
    </p:spTree>
    <p:extLst>
      <p:ext uri="{BB962C8B-B14F-4D97-AF65-F5344CB8AC3E}">
        <p14:creationId xmlns:p14="http://schemas.microsoft.com/office/powerpoint/2010/main" val="3033541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DD66391C-809B-49CC-8A5D-8907F48CD40B}" type="datetime1">
              <a:rPr lang="en-GB" smtClean="0"/>
              <a:t>04/01/2022</a:t>
            </a:fld>
            <a:endParaRPr lang="en-GB"/>
          </a:p>
        </p:txBody>
      </p:sp>
      <p:sp>
        <p:nvSpPr>
          <p:cNvPr id="8" name="Footer Placeholder 7"/>
          <p:cNvSpPr>
            <a:spLocks noGrp="1"/>
          </p:cNvSpPr>
          <p:nvPr>
            <p:ph type="ftr" sz="quarter" idx="11"/>
          </p:nvPr>
        </p:nvSpPr>
        <p:spPr/>
        <p:txBody>
          <a:bodyPr/>
          <a:lstStyle/>
          <a:p>
            <a:r>
              <a:rPr lang="en-GB" smtClean="0"/>
              <a:t>M.Tech(CSE) Major Project</a:t>
            </a:r>
            <a:endParaRPr lang="en-GB"/>
          </a:p>
        </p:txBody>
      </p:sp>
      <p:sp>
        <p:nvSpPr>
          <p:cNvPr id="9" name="Slide Number Placeholder 8"/>
          <p:cNvSpPr>
            <a:spLocks noGrp="1"/>
          </p:cNvSpPr>
          <p:nvPr>
            <p:ph type="sldNum" sz="quarter" idx="12"/>
          </p:nvPr>
        </p:nvSpPr>
        <p:spPr/>
        <p:txBody>
          <a:bodyPr/>
          <a:lstStyle/>
          <a:p>
            <a:fld id="{3C34788B-A328-40B4-96DA-57139D3AAE30}" type="slidenum">
              <a:rPr lang="en-GB" smtClean="0"/>
              <a:t>‹#›</a:t>
            </a:fld>
            <a:endParaRPr lang="en-GB"/>
          </a:p>
        </p:txBody>
      </p:sp>
    </p:spTree>
    <p:extLst>
      <p:ext uri="{BB962C8B-B14F-4D97-AF65-F5344CB8AC3E}">
        <p14:creationId xmlns:p14="http://schemas.microsoft.com/office/powerpoint/2010/main" val="2684836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28C94759-2A1C-49C0-A355-FA3687A34EB3}" type="datetime1">
              <a:rPr lang="en-GB" smtClean="0"/>
              <a:t>04/01/2022</a:t>
            </a:fld>
            <a:endParaRPr lang="en-GB"/>
          </a:p>
        </p:txBody>
      </p:sp>
      <p:sp>
        <p:nvSpPr>
          <p:cNvPr id="4" name="Footer Placeholder 3"/>
          <p:cNvSpPr>
            <a:spLocks noGrp="1"/>
          </p:cNvSpPr>
          <p:nvPr>
            <p:ph type="ftr" sz="quarter" idx="11"/>
          </p:nvPr>
        </p:nvSpPr>
        <p:spPr/>
        <p:txBody>
          <a:bodyPr/>
          <a:lstStyle/>
          <a:p>
            <a:r>
              <a:rPr lang="en-GB" smtClean="0"/>
              <a:t>M.Tech(CSE) Major Project</a:t>
            </a:r>
            <a:endParaRPr lang="en-GB"/>
          </a:p>
        </p:txBody>
      </p:sp>
      <p:sp>
        <p:nvSpPr>
          <p:cNvPr id="5" name="Slide Number Placeholder 4"/>
          <p:cNvSpPr>
            <a:spLocks noGrp="1"/>
          </p:cNvSpPr>
          <p:nvPr>
            <p:ph type="sldNum" sz="quarter" idx="12"/>
          </p:nvPr>
        </p:nvSpPr>
        <p:spPr/>
        <p:txBody>
          <a:bodyPr/>
          <a:lstStyle/>
          <a:p>
            <a:fld id="{3C34788B-A328-40B4-96DA-57139D3AAE30}" type="slidenum">
              <a:rPr lang="en-GB" smtClean="0"/>
              <a:t>‹#›</a:t>
            </a:fld>
            <a:endParaRPr lang="en-GB"/>
          </a:p>
        </p:txBody>
      </p:sp>
    </p:spTree>
    <p:extLst>
      <p:ext uri="{BB962C8B-B14F-4D97-AF65-F5344CB8AC3E}">
        <p14:creationId xmlns:p14="http://schemas.microsoft.com/office/powerpoint/2010/main" val="377982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501222-89B5-4DB4-8184-6286FB0AD2E5}" type="datetime1">
              <a:rPr lang="en-GB" smtClean="0"/>
              <a:t>04/01/2022</a:t>
            </a:fld>
            <a:endParaRPr lang="en-GB"/>
          </a:p>
        </p:txBody>
      </p:sp>
      <p:sp>
        <p:nvSpPr>
          <p:cNvPr id="3" name="Footer Placeholder 2"/>
          <p:cNvSpPr>
            <a:spLocks noGrp="1"/>
          </p:cNvSpPr>
          <p:nvPr>
            <p:ph type="ftr" sz="quarter" idx="11"/>
          </p:nvPr>
        </p:nvSpPr>
        <p:spPr/>
        <p:txBody>
          <a:bodyPr/>
          <a:lstStyle/>
          <a:p>
            <a:r>
              <a:rPr lang="en-GB" smtClean="0"/>
              <a:t>M.Tech(CSE) Major Project</a:t>
            </a:r>
            <a:endParaRPr lang="en-GB"/>
          </a:p>
        </p:txBody>
      </p:sp>
      <p:sp>
        <p:nvSpPr>
          <p:cNvPr id="4" name="Slide Number Placeholder 3"/>
          <p:cNvSpPr>
            <a:spLocks noGrp="1"/>
          </p:cNvSpPr>
          <p:nvPr>
            <p:ph type="sldNum" sz="quarter" idx="12"/>
          </p:nvPr>
        </p:nvSpPr>
        <p:spPr/>
        <p:txBody>
          <a:bodyPr/>
          <a:lstStyle/>
          <a:p>
            <a:fld id="{3C34788B-A328-40B4-96DA-57139D3AAE30}" type="slidenum">
              <a:rPr lang="en-GB" smtClean="0"/>
              <a:t>‹#›</a:t>
            </a:fld>
            <a:endParaRPr lang="en-GB"/>
          </a:p>
        </p:txBody>
      </p:sp>
    </p:spTree>
    <p:extLst>
      <p:ext uri="{BB962C8B-B14F-4D97-AF65-F5344CB8AC3E}">
        <p14:creationId xmlns:p14="http://schemas.microsoft.com/office/powerpoint/2010/main" val="35638745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8F6A40C-8F08-4A75-8CED-56FC6F8DE0EE}" type="datetime1">
              <a:rPr lang="en-GB" smtClean="0"/>
              <a:t>04/01/2022</a:t>
            </a:fld>
            <a:endParaRPr lang="en-GB"/>
          </a:p>
        </p:txBody>
      </p:sp>
      <p:sp>
        <p:nvSpPr>
          <p:cNvPr id="6" name="Footer Placeholder 5"/>
          <p:cNvSpPr>
            <a:spLocks noGrp="1"/>
          </p:cNvSpPr>
          <p:nvPr>
            <p:ph type="ftr" sz="quarter" idx="11"/>
          </p:nvPr>
        </p:nvSpPr>
        <p:spPr/>
        <p:txBody>
          <a:bodyPr/>
          <a:lstStyle/>
          <a:p>
            <a:r>
              <a:rPr lang="en-GB" smtClean="0"/>
              <a:t>M.Tech(CSE) Major Project</a:t>
            </a:r>
            <a:endParaRPr lang="en-GB"/>
          </a:p>
        </p:txBody>
      </p:sp>
      <p:sp>
        <p:nvSpPr>
          <p:cNvPr id="7" name="Slide Number Placeholder 6"/>
          <p:cNvSpPr>
            <a:spLocks noGrp="1"/>
          </p:cNvSpPr>
          <p:nvPr>
            <p:ph type="sldNum" sz="quarter" idx="12"/>
          </p:nvPr>
        </p:nvSpPr>
        <p:spPr/>
        <p:txBody>
          <a:bodyPr/>
          <a:lstStyle/>
          <a:p>
            <a:fld id="{3C34788B-A328-40B4-96DA-57139D3AAE30}" type="slidenum">
              <a:rPr lang="en-GB" smtClean="0"/>
              <a:t>‹#›</a:t>
            </a:fld>
            <a:endParaRPr lang="en-GB"/>
          </a:p>
        </p:txBody>
      </p:sp>
    </p:spTree>
    <p:extLst>
      <p:ext uri="{BB962C8B-B14F-4D97-AF65-F5344CB8AC3E}">
        <p14:creationId xmlns:p14="http://schemas.microsoft.com/office/powerpoint/2010/main" val="1036413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2A6038D-107B-4642-8ACE-232DF9D59C28}" type="datetime1">
              <a:rPr lang="en-GB" smtClean="0"/>
              <a:t>04/01/2022</a:t>
            </a:fld>
            <a:endParaRPr lang="en-GB"/>
          </a:p>
        </p:txBody>
      </p:sp>
      <p:sp>
        <p:nvSpPr>
          <p:cNvPr id="6" name="Footer Placeholder 5"/>
          <p:cNvSpPr>
            <a:spLocks noGrp="1"/>
          </p:cNvSpPr>
          <p:nvPr>
            <p:ph type="ftr" sz="quarter" idx="11"/>
          </p:nvPr>
        </p:nvSpPr>
        <p:spPr/>
        <p:txBody>
          <a:bodyPr/>
          <a:lstStyle/>
          <a:p>
            <a:r>
              <a:rPr lang="en-GB" smtClean="0"/>
              <a:t>M.Tech(CSE) Major Project</a:t>
            </a:r>
            <a:endParaRPr lang="en-GB"/>
          </a:p>
        </p:txBody>
      </p:sp>
      <p:sp>
        <p:nvSpPr>
          <p:cNvPr id="7" name="Slide Number Placeholder 6"/>
          <p:cNvSpPr>
            <a:spLocks noGrp="1"/>
          </p:cNvSpPr>
          <p:nvPr>
            <p:ph type="sldNum" sz="quarter" idx="12"/>
          </p:nvPr>
        </p:nvSpPr>
        <p:spPr/>
        <p:txBody>
          <a:bodyPr/>
          <a:lstStyle/>
          <a:p>
            <a:fld id="{3C34788B-A328-40B4-96DA-57139D3AAE30}" type="slidenum">
              <a:rPr lang="en-GB" smtClean="0"/>
              <a:t>‹#›</a:t>
            </a:fld>
            <a:endParaRPr lang="en-GB"/>
          </a:p>
        </p:txBody>
      </p:sp>
    </p:spTree>
    <p:extLst>
      <p:ext uri="{BB962C8B-B14F-4D97-AF65-F5344CB8AC3E}">
        <p14:creationId xmlns:p14="http://schemas.microsoft.com/office/powerpoint/2010/main" val="537316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C7642AA3-FC9D-4727-8DE1-86C17ADCCD14}" type="datetime1">
              <a:rPr lang="en-GB" smtClean="0"/>
              <a:t>04/01/2022</a:t>
            </a:fld>
            <a:endParaRPr lang="en-GB"/>
          </a:p>
        </p:txBody>
      </p:sp>
      <p:sp>
        <p:nvSpPr>
          <p:cNvPr id="5" name="Footer Placeholder 4"/>
          <p:cNvSpPr>
            <a:spLocks noGrp="1"/>
          </p:cNvSpPr>
          <p:nvPr>
            <p:ph type="ftr" sz="quarter" idx="11"/>
          </p:nvPr>
        </p:nvSpPr>
        <p:spPr/>
        <p:txBody>
          <a:bodyPr/>
          <a:lstStyle/>
          <a:p>
            <a:r>
              <a:rPr lang="en-GB" smtClean="0"/>
              <a:t>M.Tech(CSE) Major Project</a:t>
            </a:r>
            <a:endParaRPr lang="en-GB"/>
          </a:p>
        </p:txBody>
      </p:sp>
      <p:sp>
        <p:nvSpPr>
          <p:cNvPr id="6" name="Slide Number Placeholder 5"/>
          <p:cNvSpPr>
            <a:spLocks noGrp="1"/>
          </p:cNvSpPr>
          <p:nvPr>
            <p:ph type="sldNum" sz="quarter" idx="12"/>
          </p:nvPr>
        </p:nvSpPr>
        <p:spPr/>
        <p:txBody>
          <a:bodyPr/>
          <a:lstStyle/>
          <a:p>
            <a:fld id="{3C34788B-A328-40B4-96DA-57139D3AAE30}" type="slidenum">
              <a:rPr lang="en-GB" smtClean="0"/>
              <a:t>‹#›</a:t>
            </a:fld>
            <a:endParaRPr lang="en-GB"/>
          </a:p>
        </p:txBody>
      </p:sp>
    </p:spTree>
    <p:extLst>
      <p:ext uri="{BB962C8B-B14F-4D97-AF65-F5344CB8AC3E}">
        <p14:creationId xmlns:p14="http://schemas.microsoft.com/office/powerpoint/2010/main" val="218900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93E364DD-8942-4A49-B445-B24EB04AD3F0}" type="datetime1">
              <a:rPr lang="en-GB" smtClean="0"/>
              <a:t>04/01/2022</a:t>
            </a:fld>
            <a:endParaRPr lang="en-GB"/>
          </a:p>
        </p:txBody>
      </p:sp>
      <p:sp>
        <p:nvSpPr>
          <p:cNvPr id="5" name="Footer Placeholder 4"/>
          <p:cNvSpPr>
            <a:spLocks noGrp="1"/>
          </p:cNvSpPr>
          <p:nvPr>
            <p:ph type="ftr" sz="quarter" idx="11"/>
          </p:nvPr>
        </p:nvSpPr>
        <p:spPr/>
        <p:txBody>
          <a:bodyPr/>
          <a:lstStyle/>
          <a:p>
            <a:r>
              <a:rPr lang="en-GB" smtClean="0"/>
              <a:t>M.Tech(CSE) Major Project</a:t>
            </a:r>
            <a:endParaRPr lang="en-GB"/>
          </a:p>
        </p:txBody>
      </p:sp>
      <p:sp>
        <p:nvSpPr>
          <p:cNvPr id="6" name="Slide Number Placeholder 5"/>
          <p:cNvSpPr>
            <a:spLocks noGrp="1"/>
          </p:cNvSpPr>
          <p:nvPr>
            <p:ph type="sldNum" sz="quarter" idx="12"/>
          </p:nvPr>
        </p:nvSpPr>
        <p:spPr/>
        <p:txBody>
          <a:bodyPr/>
          <a:lstStyle/>
          <a:p>
            <a:fld id="{3C34788B-A328-40B4-96DA-57139D3AAE30}" type="slidenum">
              <a:rPr lang="en-GB" smtClean="0"/>
              <a:t>‹#›</a:t>
            </a:fld>
            <a:endParaRPr lang="en-GB"/>
          </a:p>
        </p:txBody>
      </p:sp>
    </p:spTree>
    <p:extLst>
      <p:ext uri="{BB962C8B-B14F-4D97-AF65-F5344CB8AC3E}">
        <p14:creationId xmlns:p14="http://schemas.microsoft.com/office/powerpoint/2010/main" val="3290249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23FF2A-852C-4041-91DD-CA51D54E870F}" type="datetime1">
              <a:rPr lang="en-GB" smtClean="0"/>
              <a:t>04/01/2022</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smtClean="0"/>
              <a:t>M.Tech(CSE) Major Project</a:t>
            </a: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34788B-A328-40B4-96DA-57139D3AAE30}" type="slidenum">
              <a:rPr lang="en-GB" smtClean="0"/>
              <a:t>‹#›</a:t>
            </a:fld>
            <a:endParaRPr lang="en-GB"/>
          </a:p>
        </p:txBody>
      </p:sp>
    </p:spTree>
    <p:extLst>
      <p:ext uri="{BB962C8B-B14F-4D97-AF65-F5344CB8AC3E}">
        <p14:creationId xmlns:p14="http://schemas.microsoft.com/office/powerpoint/2010/main" val="1253035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GB" smtClean="0"/>
              <a:t>M.Tech(CSE) Major Project</a:t>
            </a:r>
            <a:endParaRPr lang="en-GB"/>
          </a:p>
        </p:txBody>
      </p:sp>
      <p:sp>
        <p:nvSpPr>
          <p:cNvPr id="5" name="Slide Number Placeholder 4"/>
          <p:cNvSpPr>
            <a:spLocks noGrp="1"/>
          </p:cNvSpPr>
          <p:nvPr>
            <p:ph type="sldNum" sz="quarter" idx="12"/>
          </p:nvPr>
        </p:nvSpPr>
        <p:spPr/>
        <p:txBody>
          <a:bodyPr/>
          <a:lstStyle/>
          <a:p>
            <a:fld id="{3C34788B-A328-40B4-96DA-57139D3AAE30}" type="slidenum">
              <a:rPr lang="en-GB" smtClean="0"/>
              <a:t>1</a:t>
            </a:fld>
            <a:endParaRPr lang="en-GB"/>
          </a:p>
        </p:txBody>
      </p:sp>
      <p:pic>
        <p:nvPicPr>
          <p:cNvPr id="7" name="Content Placeholder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68926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Google Shape;88;p13">
            <a:extLst>
              <a:ext uri="{FF2B5EF4-FFF2-40B4-BE49-F238E27FC236}">
                <a16:creationId xmlns:a16="http://schemas.microsoft.com/office/drawing/2014/main" xmlns="" id="{5CBDED67-4D42-498C-8A17-731B5DB58632}"/>
              </a:ext>
            </a:extLst>
          </p:cNvPr>
          <p:cNvPicPr preferRelativeResize="0"/>
          <p:nvPr/>
        </p:nvPicPr>
        <p:blipFill>
          <a:blip r:embed="rId3">
            <a:alphaModFix/>
          </a:blip>
          <a:stretch>
            <a:fillRect/>
          </a:stretch>
        </p:blipFill>
        <p:spPr>
          <a:xfrm>
            <a:off x="152400" y="103909"/>
            <a:ext cx="8866909" cy="126769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9" name="TextBox 8">
            <a:extLst>
              <a:ext uri="{FF2B5EF4-FFF2-40B4-BE49-F238E27FC236}">
                <a16:creationId xmlns="" xmlns:a16="http://schemas.microsoft.com/office/drawing/2014/main" id="{9EB0FD16-689C-476C-8309-C7173C257513}"/>
              </a:ext>
            </a:extLst>
          </p:cNvPr>
          <p:cNvSpPr txBox="1"/>
          <p:nvPr/>
        </p:nvSpPr>
        <p:spPr>
          <a:xfrm>
            <a:off x="-20782" y="1752600"/>
            <a:ext cx="9143999" cy="1446550"/>
          </a:xfrm>
          <a:prstGeom prst="rect">
            <a:avLst/>
          </a:prstGeom>
          <a:noFill/>
        </p:spPr>
        <p:txBody>
          <a:bodyPr wrap="square" rtlCol="0">
            <a:spAutoFit/>
          </a:bodyPr>
          <a:lstStyle/>
          <a:p>
            <a:pPr algn="ctr"/>
            <a:r>
              <a:rPr lang="en-US" sz="4400" dirty="0" smtClean="0">
                <a:solidFill>
                  <a:srgbClr val="002060"/>
                </a:solidFill>
                <a:latin typeface="Tw Cen MT" panose="020B0602020104020603" pitchFamily="34" charset="0"/>
              </a:rPr>
              <a:t>PROJECTION OF EMPLOYEE PERFORMANCE &amp; CONFINEMENT</a:t>
            </a:r>
            <a:endParaRPr lang="en-US" sz="8000" dirty="0">
              <a:solidFill>
                <a:srgbClr val="002060"/>
              </a:solidFill>
              <a:latin typeface="Tw Cen MT" panose="020B0602020104020603" pitchFamily="34" charset="0"/>
            </a:endParaRPr>
          </a:p>
        </p:txBody>
      </p:sp>
      <p:sp>
        <p:nvSpPr>
          <p:cNvPr id="12" name="TextBox 11">
            <a:extLst>
              <a:ext uri="{FF2B5EF4-FFF2-40B4-BE49-F238E27FC236}">
                <a16:creationId xmlns="" xmlns:a16="http://schemas.microsoft.com/office/drawing/2014/main" id="{4F202974-31A3-4642-B671-F0DBBB7B4663}"/>
              </a:ext>
            </a:extLst>
          </p:cNvPr>
          <p:cNvSpPr txBox="1"/>
          <p:nvPr/>
        </p:nvSpPr>
        <p:spPr>
          <a:xfrm>
            <a:off x="13855" y="3598783"/>
            <a:ext cx="9144000" cy="1354217"/>
          </a:xfrm>
          <a:prstGeom prst="rect">
            <a:avLst/>
          </a:prstGeom>
          <a:noFill/>
        </p:spPr>
        <p:txBody>
          <a:bodyPr wrap="square" rtlCol="0">
            <a:spAutoFit/>
          </a:bodyPr>
          <a:lstStyle/>
          <a:p>
            <a:pPr algn="ctr"/>
            <a:r>
              <a:rPr lang="en-US" sz="4000" dirty="0" smtClean="0">
                <a:solidFill>
                  <a:srgbClr val="0070C0"/>
                </a:solidFill>
                <a:latin typeface="Tw Cen MT" panose="020B0602020104020603" pitchFamily="34" charset="0"/>
              </a:rPr>
              <a:t>G.SHIRISHA – 19071D5804</a:t>
            </a:r>
          </a:p>
          <a:p>
            <a:pPr algn="ctr"/>
            <a:r>
              <a:rPr lang="en-US" sz="4000" dirty="0" smtClean="0">
                <a:solidFill>
                  <a:srgbClr val="0070C0"/>
                </a:solidFill>
                <a:latin typeface="Tw Cen MT" panose="020B0602020104020603" pitchFamily="34" charset="0"/>
              </a:rPr>
              <a:t>(M.Tech 2</a:t>
            </a:r>
            <a:r>
              <a:rPr lang="en-US" sz="4000" baseline="30000" dirty="0" smtClean="0">
                <a:solidFill>
                  <a:srgbClr val="0070C0"/>
                </a:solidFill>
                <a:latin typeface="Tw Cen MT" panose="020B0602020104020603" pitchFamily="34" charset="0"/>
              </a:rPr>
              <a:t>nd</a:t>
            </a:r>
            <a:r>
              <a:rPr lang="en-US" sz="4000" dirty="0" smtClean="0">
                <a:solidFill>
                  <a:srgbClr val="0070C0"/>
                </a:solidFill>
                <a:latin typeface="Tw Cen MT" panose="020B0602020104020603" pitchFamily="34" charset="0"/>
              </a:rPr>
              <a:t> year)</a:t>
            </a:r>
            <a:endParaRPr lang="en-US" sz="4000" dirty="0">
              <a:solidFill>
                <a:srgbClr val="0070C0"/>
              </a:solidFill>
              <a:latin typeface="Tw Cen MT" panose="020B0602020104020603" pitchFamily="34" charset="0"/>
            </a:endParaRPr>
          </a:p>
        </p:txBody>
      </p:sp>
      <p:sp>
        <p:nvSpPr>
          <p:cNvPr id="13" name="TextBox 12">
            <a:extLst>
              <a:ext uri="{FF2B5EF4-FFF2-40B4-BE49-F238E27FC236}">
                <a16:creationId xmlns="" xmlns:a16="http://schemas.microsoft.com/office/drawing/2014/main" id="{79BCE1F0-A71E-4D4B-BE6A-A381604C28D2}"/>
              </a:ext>
            </a:extLst>
          </p:cNvPr>
          <p:cNvSpPr txBox="1"/>
          <p:nvPr/>
        </p:nvSpPr>
        <p:spPr>
          <a:xfrm>
            <a:off x="0" y="5334000"/>
            <a:ext cx="9143999" cy="1077218"/>
          </a:xfrm>
          <a:prstGeom prst="rect">
            <a:avLst/>
          </a:prstGeom>
          <a:noFill/>
        </p:spPr>
        <p:txBody>
          <a:bodyPr wrap="square" rtlCol="0">
            <a:spAutoFit/>
          </a:bodyPr>
          <a:lstStyle/>
          <a:p>
            <a:pPr algn="ctr"/>
            <a:r>
              <a:rPr lang="en-US" sz="3200" dirty="0" smtClean="0">
                <a:solidFill>
                  <a:srgbClr val="00B0F0"/>
                </a:solidFill>
                <a:latin typeface="Tw Cen MT" panose="020B0602020104020603" pitchFamily="34" charset="0"/>
              </a:rPr>
              <a:t>GUIDE -</a:t>
            </a:r>
            <a:r>
              <a:rPr lang="en-US" sz="3200" dirty="0">
                <a:solidFill>
                  <a:srgbClr val="00B0F0"/>
                </a:solidFill>
                <a:latin typeface="Tw Cen MT" panose="020B0602020104020603" pitchFamily="34" charset="0"/>
              </a:rPr>
              <a:t>Dr</a:t>
            </a:r>
            <a:r>
              <a:rPr lang="en-US" sz="3200" dirty="0" smtClean="0">
                <a:solidFill>
                  <a:srgbClr val="00B0F0"/>
                </a:solidFill>
                <a:latin typeface="Tw Cen MT" panose="020B0602020104020603" pitchFamily="34" charset="0"/>
              </a:rPr>
              <a:t>. M. RAJA SEKAR</a:t>
            </a:r>
          </a:p>
          <a:p>
            <a:pPr algn="ctr"/>
            <a:r>
              <a:rPr lang="en-US" sz="3200" dirty="0" smtClean="0">
                <a:solidFill>
                  <a:srgbClr val="00B0F0"/>
                </a:solidFill>
                <a:latin typeface="Tw Cen MT" panose="020B0602020104020603" pitchFamily="34" charset="0"/>
              </a:rPr>
              <a:t>(Professor)</a:t>
            </a:r>
            <a:endParaRPr lang="en-US" sz="3200" dirty="0">
              <a:solidFill>
                <a:srgbClr val="00B0F0"/>
              </a:solidFill>
              <a:latin typeface="Tw Cen MT" panose="020B0602020104020603" pitchFamily="34" charset="0"/>
            </a:endParaRPr>
          </a:p>
        </p:txBody>
      </p:sp>
    </p:spTree>
    <p:extLst>
      <p:ext uri="{BB962C8B-B14F-4D97-AF65-F5344CB8AC3E}">
        <p14:creationId xmlns:p14="http://schemas.microsoft.com/office/powerpoint/2010/main" val="3905777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Content Placeholder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4636"/>
            <a:ext cx="9144000" cy="68926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itle 1"/>
          <p:cNvSpPr txBox="1">
            <a:spLocks/>
          </p:cNvSpPr>
          <p:nvPr/>
        </p:nvSpPr>
        <p:spPr>
          <a:xfrm>
            <a:off x="0" y="0"/>
            <a:ext cx="91440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smtClean="0">
                <a:latin typeface="Algerian" panose="04020705040A02060702" pitchFamily="82" charset="0"/>
              </a:rPr>
              <a:t>Contents</a:t>
            </a:r>
            <a:endParaRPr lang="en-GB" sz="4000" dirty="0">
              <a:latin typeface="Algerian" panose="04020705040A02060702" pitchFamily="82" charset="0"/>
            </a:endParaRPr>
          </a:p>
        </p:txBody>
      </p:sp>
      <p:sp>
        <p:nvSpPr>
          <p:cNvPr id="6" name="Rectangle 5"/>
          <p:cNvSpPr/>
          <p:nvPr/>
        </p:nvSpPr>
        <p:spPr>
          <a:xfrm>
            <a:off x="228600" y="1128385"/>
            <a:ext cx="8686800" cy="5447645"/>
          </a:xfrm>
          <a:prstGeom prst="rect">
            <a:avLst/>
          </a:prstGeom>
        </p:spPr>
        <p:txBody>
          <a:bodyPr wrap="square">
            <a:spAutoFit/>
          </a:bodyPr>
          <a:lstStyle/>
          <a:p>
            <a:pPr marL="342900" indent="-342900" algn="just">
              <a:lnSpc>
                <a:spcPct val="150000"/>
              </a:lnSpc>
              <a:buFont typeface="+mj-lt"/>
              <a:buAutoNum type="arabicPeriod"/>
            </a:pPr>
            <a:r>
              <a:rPr lang="en-US" sz="2000" b="1" dirty="0" smtClean="0">
                <a:latin typeface="Times New Roman" panose="02020603050405020304" pitchFamily="18" charset="0"/>
                <a:cs typeface="Times New Roman" panose="02020603050405020304" pitchFamily="18" charset="0"/>
              </a:rPr>
              <a:t>Abstract</a:t>
            </a:r>
          </a:p>
          <a:p>
            <a:pPr marL="342900" indent="-342900" algn="just">
              <a:lnSpc>
                <a:spcPct val="150000"/>
              </a:lnSpc>
              <a:buFont typeface="+mj-lt"/>
              <a:buAutoNum type="arabicPeriod"/>
            </a:pPr>
            <a:r>
              <a:rPr lang="en-US" sz="2000" b="1" dirty="0" smtClean="0">
                <a:latin typeface="Times New Roman" panose="02020603050405020304" pitchFamily="18" charset="0"/>
                <a:cs typeface="Times New Roman" panose="02020603050405020304" pitchFamily="18" charset="0"/>
              </a:rPr>
              <a:t>Purpose of this model</a:t>
            </a:r>
          </a:p>
          <a:p>
            <a:pPr marL="342900" indent="-342900" algn="just">
              <a:lnSpc>
                <a:spcPct val="150000"/>
              </a:lnSpc>
              <a:buFont typeface="+mj-lt"/>
              <a:buAutoNum type="arabicPeriod"/>
            </a:pPr>
            <a:r>
              <a:rPr lang="en-US" sz="2000" b="1" dirty="0" smtClean="0">
                <a:latin typeface="Times New Roman" panose="02020603050405020304" pitchFamily="18" charset="0"/>
                <a:cs typeface="Times New Roman" panose="02020603050405020304" pitchFamily="18" charset="0"/>
              </a:rPr>
              <a:t>Literature Conclusion</a:t>
            </a:r>
          </a:p>
          <a:p>
            <a:pPr marL="342900" indent="-342900" algn="just">
              <a:lnSpc>
                <a:spcPct val="150000"/>
              </a:lnSpc>
              <a:buFont typeface="+mj-lt"/>
              <a:buAutoNum type="arabicPeriod"/>
            </a:pPr>
            <a:r>
              <a:rPr lang="en-US" sz="2000" b="1" dirty="0" smtClean="0">
                <a:latin typeface="Times New Roman" panose="02020603050405020304" pitchFamily="18" charset="0"/>
                <a:cs typeface="Times New Roman" panose="02020603050405020304" pitchFamily="18" charset="0"/>
              </a:rPr>
              <a:t>Project Workflow</a:t>
            </a:r>
          </a:p>
          <a:p>
            <a:pPr marL="342900" indent="-342900" algn="just">
              <a:lnSpc>
                <a:spcPct val="150000"/>
              </a:lnSpc>
              <a:buFont typeface="+mj-lt"/>
              <a:buAutoNum type="arabicPeriod"/>
            </a:pPr>
            <a:r>
              <a:rPr lang="en-US" sz="2000" b="1" dirty="0" smtClean="0">
                <a:latin typeface="Times New Roman" panose="02020603050405020304" pitchFamily="18" charset="0"/>
                <a:cs typeface="Times New Roman" panose="02020603050405020304" pitchFamily="18" charset="0"/>
              </a:rPr>
              <a:t>Design Phase</a:t>
            </a:r>
          </a:p>
          <a:p>
            <a:pPr marL="342900" indent="-342900" algn="just">
              <a:lnSpc>
                <a:spcPct val="150000"/>
              </a:lnSpc>
              <a:buFont typeface="+mj-lt"/>
              <a:buAutoNum type="arabicPeriod"/>
            </a:pPr>
            <a:r>
              <a:rPr lang="en-US" sz="2000" b="1" dirty="0" smtClean="0">
                <a:latin typeface="Times New Roman" panose="02020603050405020304" pitchFamily="18" charset="0"/>
                <a:cs typeface="Times New Roman" panose="02020603050405020304" pitchFamily="18" charset="0"/>
              </a:rPr>
              <a:t>Implementation</a:t>
            </a:r>
          </a:p>
          <a:p>
            <a:pPr marL="342900" indent="-342900" algn="just">
              <a:lnSpc>
                <a:spcPct val="150000"/>
              </a:lnSpc>
              <a:buFont typeface="+mj-lt"/>
              <a:buAutoNum type="arabicPeriod"/>
            </a:pPr>
            <a:r>
              <a:rPr lang="en-US" sz="2000" b="1" dirty="0" smtClean="0">
                <a:latin typeface="Times New Roman" panose="02020603050405020304" pitchFamily="18" charset="0"/>
                <a:cs typeface="Times New Roman" panose="02020603050405020304" pitchFamily="18" charset="0"/>
              </a:rPr>
              <a:t>Conclusion</a:t>
            </a:r>
          </a:p>
          <a:p>
            <a:pPr marL="342900" indent="-342900" algn="just">
              <a:lnSpc>
                <a:spcPct val="150000"/>
              </a:lnSpc>
              <a:buFont typeface="+mj-lt"/>
              <a:buAutoNum type="arabicPeriod"/>
            </a:pPr>
            <a:r>
              <a:rPr lang="en-US" sz="2000" b="1" dirty="0" smtClean="0">
                <a:latin typeface="Times New Roman" panose="02020603050405020304" pitchFamily="18" charset="0"/>
                <a:cs typeface="Times New Roman" panose="02020603050405020304" pitchFamily="18" charset="0"/>
              </a:rPr>
              <a:t>References</a:t>
            </a:r>
          </a:p>
          <a:p>
            <a:pPr marL="342900" indent="-342900" algn="just">
              <a:lnSpc>
                <a:spcPct val="150000"/>
              </a:lnSpc>
              <a:buFont typeface="+mj-lt"/>
              <a:buAutoNum type="arabicPeriod"/>
            </a:pPr>
            <a:r>
              <a:rPr lang="en-US" sz="2000" b="1" dirty="0" smtClean="0">
                <a:latin typeface="Times New Roman" panose="02020603050405020304" pitchFamily="18" charset="0"/>
                <a:cs typeface="Times New Roman" panose="02020603050405020304" pitchFamily="18" charset="0"/>
              </a:rPr>
              <a:t>Acceptance </a:t>
            </a:r>
            <a:r>
              <a:rPr lang="en-US" sz="2000" b="1" dirty="0" smtClean="0">
                <a:latin typeface="Times New Roman" panose="02020603050405020304" pitchFamily="18" charset="0"/>
                <a:cs typeface="Times New Roman" panose="02020603050405020304" pitchFamily="18" charset="0"/>
              </a:rPr>
              <a:t>Letter &amp; Certificate</a:t>
            </a:r>
            <a:endParaRPr lang="en-US" sz="2000" b="1" dirty="0" smtClean="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endParaRPr lang="en-US" dirty="0" smtClean="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endParaRPr lang="en-US" dirty="0" smtClean="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endParaRPr lang="en-GB"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3C34788B-A328-40B4-96DA-57139D3AAE30}" type="slidenum">
              <a:rPr lang="en-GB" smtClean="0"/>
              <a:t>2</a:t>
            </a:fld>
            <a:endParaRPr lang="en-GB"/>
          </a:p>
        </p:txBody>
      </p:sp>
      <p:sp>
        <p:nvSpPr>
          <p:cNvPr id="8" name="Footer Placeholder 7"/>
          <p:cNvSpPr>
            <a:spLocks noGrp="1"/>
          </p:cNvSpPr>
          <p:nvPr>
            <p:ph type="ftr" sz="quarter" idx="11"/>
          </p:nvPr>
        </p:nvSpPr>
        <p:spPr/>
        <p:txBody>
          <a:bodyPr/>
          <a:lstStyle/>
          <a:p>
            <a:r>
              <a:rPr lang="en-GB" smtClean="0"/>
              <a:t>M.Tech(CSE) Major Project</a:t>
            </a:r>
            <a:endParaRPr lang="en-GB"/>
          </a:p>
        </p:txBody>
      </p:sp>
    </p:spTree>
    <p:extLst>
      <p:ext uri="{BB962C8B-B14F-4D97-AF65-F5344CB8AC3E}">
        <p14:creationId xmlns:p14="http://schemas.microsoft.com/office/powerpoint/2010/main" val="39937340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34636"/>
            <a:ext cx="9144000" cy="68926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 name="Rectangle 1"/>
          <p:cNvSpPr/>
          <p:nvPr/>
        </p:nvSpPr>
        <p:spPr>
          <a:xfrm>
            <a:off x="228600" y="1128385"/>
            <a:ext cx="8686800" cy="4247317"/>
          </a:xfrm>
          <a:prstGeom prst="rect">
            <a:avLst/>
          </a:prstGeom>
        </p:spPr>
        <p:txBody>
          <a:bodyPr wrap="square">
            <a:spAutoFit/>
          </a:bodyPr>
          <a:lstStyle/>
          <a:p>
            <a:pPr algn="just">
              <a:lnSpc>
                <a:spcPct val="150000"/>
              </a:lnSpc>
            </a:pPr>
            <a:r>
              <a:rPr lang="en-GB" dirty="0" smtClean="0">
                <a:latin typeface="Times New Roman" panose="02020603050405020304" pitchFamily="18" charset="0"/>
                <a:cs typeface="Times New Roman" panose="02020603050405020304" pitchFamily="18" charset="0"/>
              </a:rPr>
              <a:t>Employees </a:t>
            </a:r>
            <a:r>
              <a:rPr lang="en-GB" dirty="0">
                <a:latin typeface="Times New Roman" panose="02020603050405020304" pitchFamily="18" charset="0"/>
                <a:cs typeface="Times New Roman" panose="02020603050405020304" pitchFamily="18" charset="0"/>
              </a:rPr>
              <a:t>are an organization's most precious asset. The graphical representation of anticipating pay is a process that attempts to build a computerized system that can follow all daily salary growth graphs </a:t>
            </a:r>
            <a:r>
              <a:rPr lang="en-GB" dirty="0" smtClean="0">
                <a:latin typeface="Times New Roman" panose="02020603050405020304" pitchFamily="18" charset="0"/>
                <a:cs typeface="Times New Roman" panose="02020603050405020304" pitchFamily="18" charset="0"/>
              </a:rPr>
              <a:t>in </a:t>
            </a:r>
            <a:r>
              <a:rPr lang="en-GB" dirty="0">
                <a:latin typeface="Times New Roman" panose="02020603050405020304" pitchFamily="18" charset="0"/>
                <a:cs typeface="Times New Roman" panose="02020603050405020304" pitchFamily="18" charset="0"/>
              </a:rPr>
              <a:t>any location and predict revenue after a certain period of time. This application </a:t>
            </a:r>
            <a:r>
              <a:rPr lang="en-GB" b="1" dirty="0" smtClean="0">
                <a:latin typeface="Times New Roman" panose="02020603050405020304" pitchFamily="18" charset="0"/>
                <a:cs typeface="Times New Roman" panose="02020603050405020304" pitchFamily="18" charset="0"/>
              </a:rPr>
              <a:t>generate </a:t>
            </a:r>
            <a:r>
              <a:rPr lang="en-GB" b="1" dirty="0">
                <a:latin typeface="Times New Roman" panose="02020603050405020304" pitchFamily="18" charset="0"/>
                <a:cs typeface="Times New Roman" panose="02020603050405020304" pitchFamily="18" charset="0"/>
              </a:rPr>
              <a:t>a graph </a:t>
            </a:r>
            <a:r>
              <a:rPr lang="en-GB" dirty="0">
                <a:latin typeface="Times New Roman" panose="02020603050405020304" pitchFamily="18" charset="0"/>
                <a:cs typeface="Times New Roman" panose="02020603050405020304" pitchFamily="18" charset="0"/>
              </a:rPr>
              <a:t>based on the information contained therein. Employees who depart take with them valuable experience and knowledge from your organisation. Most businesses assess </a:t>
            </a:r>
            <a:r>
              <a:rPr lang="en-GB" b="1" dirty="0">
                <a:latin typeface="Times New Roman" panose="02020603050405020304" pitchFamily="18" charset="0"/>
                <a:cs typeface="Times New Roman" panose="02020603050405020304" pitchFamily="18" charset="0"/>
              </a:rPr>
              <a:t>retention rates </a:t>
            </a:r>
            <a:r>
              <a:rPr lang="en-GB" dirty="0">
                <a:latin typeface="Times New Roman" panose="02020603050405020304" pitchFamily="18" charset="0"/>
                <a:cs typeface="Times New Roman" panose="02020603050405020304" pitchFamily="18" charset="0"/>
              </a:rPr>
              <a:t>on an annual basis, but you may measure it in smaller increments for speedier results. In this work, we deploy an </a:t>
            </a:r>
            <a:r>
              <a:rPr lang="en-GB" b="1" dirty="0">
                <a:latin typeface="Times New Roman" panose="02020603050405020304" pitchFamily="18" charset="0"/>
                <a:cs typeface="Times New Roman" panose="02020603050405020304" pitchFamily="18" charset="0"/>
              </a:rPr>
              <a:t>analytics-driven solution </a:t>
            </a:r>
            <a:r>
              <a:rPr lang="en-GB" dirty="0">
                <a:latin typeface="Times New Roman" panose="02020603050405020304" pitchFamily="18" charset="0"/>
                <a:cs typeface="Times New Roman" panose="02020603050405020304" pitchFamily="18" charset="0"/>
              </a:rPr>
              <a:t>that infers the expertise of employees through the mining of enterprise and social data that is not specifically generated and collected for expertise inference. We consider job role and specialty </a:t>
            </a:r>
            <a:r>
              <a:rPr lang="en-GB" b="1" dirty="0">
                <a:latin typeface="Times New Roman" panose="02020603050405020304" pitchFamily="18" charset="0"/>
                <a:cs typeface="Times New Roman" panose="02020603050405020304" pitchFamily="18" charset="0"/>
              </a:rPr>
              <a:t>prediction</a:t>
            </a:r>
            <a:r>
              <a:rPr lang="en-GB" dirty="0">
                <a:latin typeface="Times New Roman" panose="02020603050405020304" pitchFamily="18" charset="0"/>
                <a:cs typeface="Times New Roman" panose="02020603050405020304" pitchFamily="18" charset="0"/>
              </a:rPr>
              <a:t> and pose them as supervised classification problems. </a:t>
            </a:r>
          </a:p>
        </p:txBody>
      </p:sp>
      <p:sp>
        <p:nvSpPr>
          <p:cNvPr id="4" name="Title 1"/>
          <p:cNvSpPr>
            <a:spLocks noGrp="1"/>
          </p:cNvSpPr>
          <p:nvPr>
            <p:ph type="title"/>
          </p:nvPr>
        </p:nvSpPr>
        <p:spPr>
          <a:xfrm>
            <a:off x="0" y="0"/>
            <a:ext cx="9144000" cy="1143000"/>
          </a:xfrm>
        </p:spPr>
        <p:txBody>
          <a:bodyPr>
            <a:normAutofit/>
          </a:bodyPr>
          <a:lstStyle/>
          <a:p>
            <a:r>
              <a:rPr lang="en-US" sz="3600" dirty="0" smtClean="0">
                <a:latin typeface="Algerian" panose="04020705040A02060702" pitchFamily="82" charset="0"/>
              </a:rPr>
              <a:t>ABSTRACT</a:t>
            </a:r>
            <a:endParaRPr lang="en-GB" sz="4000" dirty="0">
              <a:latin typeface="Algerian" panose="04020705040A02060702" pitchFamily="82" charset="0"/>
            </a:endParaRPr>
          </a:p>
        </p:txBody>
      </p:sp>
      <p:sp>
        <p:nvSpPr>
          <p:cNvPr id="5" name="Slide Number Placeholder 4"/>
          <p:cNvSpPr>
            <a:spLocks noGrp="1"/>
          </p:cNvSpPr>
          <p:nvPr>
            <p:ph type="sldNum" sz="quarter" idx="12"/>
          </p:nvPr>
        </p:nvSpPr>
        <p:spPr/>
        <p:txBody>
          <a:bodyPr/>
          <a:lstStyle/>
          <a:p>
            <a:fld id="{3C34788B-A328-40B4-96DA-57139D3AAE30}" type="slidenum">
              <a:rPr lang="en-GB" smtClean="0"/>
              <a:t>3</a:t>
            </a:fld>
            <a:endParaRPr lang="en-GB"/>
          </a:p>
        </p:txBody>
      </p:sp>
      <p:sp>
        <p:nvSpPr>
          <p:cNvPr id="6" name="Footer Placeholder 5"/>
          <p:cNvSpPr>
            <a:spLocks noGrp="1"/>
          </p:cNvSpPr>
          <p:nvPr>
            <p:ph type="ftr" sz="quarter" idx="11"/>
          </p:nvPr>
        </p:nvSpPr>
        <p:spPr/>
        <p:txBody>
          <a:bodyPr/>
          <a:lstStyle/>
          <a:p>
            <a:r>
              <a:rPr lang="en-GB" smtClean="0"/>
              <a:t>M.Tech(CSE) Major Project</a:t>
            </a:r>
            <a:endParaRPr lang="en-GB"/>
          </a:p>
        </p:txBody>
      </p:sp>
    </p:spTree>
    <p:extLst>
      <p:ext uri="{BB962C8B-B14F-4D97-AF65-F5344CB8AC3E}">
        <p14:creationId xmlns:p14="http://schemas.microsoft.com/office/powerpoint/2010/main" val="31384638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GB" smtClean="0"/>
              <a:t>M.Tech(CSE) Major Project</a:t>
            </a:r>
            <a:endParaRPr lang="en-GB"/>
          </a:p>
        </p:txBody>
      </p:sp>
      <p:sp>
        <p:nvSpPr>
          <p:cNvPr id="5" name="Slide Number Placeholder 4"/>
          <p:cNvSpPr>
            <a:spLocks noGrp="1"/>
          </p:cNvSpPr>
          <p:nvPr>
            <p:ph type="sldNum" sz="quarter" idx="12"/>
          </p:nvPr>
        </p:nvSpPr>
        <p:spPr/>
        <p:txBody>
          <a:bodyPr/>
          <a:lstStyle/>
          <a:p>
            <a:fld id="{3C34788B-A328-40B4-96DA-57139D3AAE30}" type="slidenum">
              <a:rPr lang="en-GB" smtClean="0"/>
              <a:t>4</a:t>
            </a:fld>
            <a:endParaRPr lang="en-GB"/>
          </a:p>
        </p:txBody>
      </p:sp>
      <p:pic>
        <p:nvPicPr>
          <p:cNvPr id="8" name="Content Placeholder 7"/>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1066800"/>
            <a:ext cx="9067800" cy="5791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Title 1"/>
          <p:cNvSpPr>
            <a:spLocks noGrp="1"/>
          </p:cNvSpPr>
          <p:nvPr>
            <p:ph type="title"/>
          </p:nvPr>
        </p:nvSpPr>
        <p:spPr>
          <a:xfrm>
            <a:off x="0" y="0"/>
            <a:ext cx="9144000" cy="1066800"/>
          </a:xfrm>
        </p:spPr>
        <p:txBody>
          <a:bodyPr>
            <a:normAutofit/>
          </a:bodyPr>
          <a:lstStyle/>
          <a:p>
            <a:r>
              <a:rPr lang="en-US" sz="3600" dirty="0" smtClean="0">
                <a:latin typeface="Algerian" panose="04020705040A02060702" pitchFamily="82" charset="0"/>
              </a:rPr>
              <a:t>Why employees resign?</a:t>
            </a:r>
            <a:endParaRPr lang="en-GB" sz="4000" dirty="0">
              <a:latin typeface="Algerian" panose="04020705040A02060702" pitchFamily="82" charset="0"/>
            </a:endParaRPr>
          </a:p>
        </p:txBody>
      </p:sp>
    </p:spTree>
    <p:extLst>
      <p:ext uri="{BB962C8B-B14F-4D97-AF65-F5344CB8AC3E}">
        <p14:creationId xmlns:p14="http://schemas.microsoft.com/office/powerpoint/2010/main" val="3911752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89559"/>
            <a:ext cx="9144000" cy="68926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Rectangle 3"/>
          <p:cNvSpPr/>
          <p:nvPr/>
        </p:nvSpPr>
        <p:spPr>
          <a:xfrm>
            <a:off x="0" y="1066800"/>
            <a:ext cx="9144000" cy="3987054"/>
          </a:xfrm>
          <a:prstGeom prst="rect">
            <a:avLst/>
          </a:prstGeom>
        </p:spPr>
        <p:txBody>
          <a:bodyPr wrap="square">
            <a:spAutoFit/>
          </a:bodyPr>
          <a:lstStyle/>
          <a:p>
            <a:pPr marL="285750" indent="-285750" algn="just">
              <a:lnSpc>
                <a:spcPct val="150000"/>
              </a:lnSpc>
              <a:buFont typeface="Wingdings" panose="05000000000000000000" pitchFamily="2" charset="2"/>
              <a:buChar char="ü"/>
            </a:pPr>
            <a:r>
              <a:rPr lang="en-GB" sz="1900" dirty="0" smtClean="0">
                <a:latin typeface="Times New Roman" panose="02020603050405020304" pitchFamily="18" charset="0"/>
                <a:cs typeface="Times New Roman" panose="02020603050405020304" pitchFamily="18" charset="0"/>
              </a:rPr>
              <a:t>Performance </a:t>
            </a:r>
            <a:r>
              <a:rPr lang="en-GB" sz="1900" dirty="0">
                <a:latin typeface="Times New Roman" panose="02020603050405020304" pitchFamily="18" charset="0"/>
                <a:cs typeface="Times New Roman" panose="02020603050405020304" pitchFamily="18" charset="0"/>
              </a:rPr>
              <a:t>appraisal process provides a means for discussing, planning and reviewing the performance of each </a:t>
            </a:r>
            <a:r>
              <a:rPr lang="en-GB" sz="1900" dirty="0" smtClean="0">
                <a:latin typeface="Times New Roman" panose="02020603050405020304" pitchFamily="18" charset="0"/>
                <a:cs typeface="Times New Roman" panose="02020603050405020304" pitchFamily="18" charset="0"/>
              </a:rPr>
              <a:t>employee.</a:t>
            </a:r>
          </a:p>
          <a:p>
            <a:pPr marL="285750" indent="-285750" algn="just">
              <a:lnSpc>
                <a:spcPct val="150000"/>
              </a:lnSpc>
              <a:buFont typeface="Wingdings" panose="05000000000000000000" pitchFamily="2" charset="2"/>
              <a:buChar char="ü"/>
            </a:pPr>
            <a:r>
              <a:rPr lang="en-GB" sz="1900" dirty="0" smtClean="0">
                <a:latin typeface="Times New Roman" panose="02020603050405020304" pitchFamily="18" charset="0"/>
                <a:cs typeface="Times New Roman" panose="02020603050405020304" pitchFamily="18" charset="0"/>
              </a:rPr>
              <a:t>Hiring is not easy process. It </a:t>
            </a:r>
            <a:r>
              <a:rPr lang="en-GB" sz="1900" dirty="0">
                <a:latin typeface="Times New Roman" panose="02020603050405020304" pitchFamily="18" charset="0"/>
                <a:cs typeface="Times New Roman" panose="02020603050405020304" pitchFamily="18" charset="0"/>
              </a:rPr>
              <a:t>is essential for the organization to retain the </a:t>
            </a:r>
            <a:r>
              <a:rPr lang="en-GB" sz="1900" b="1" dirty="0">
                <a:latin typeface="Times New Roman" panose="02020603050405020304" pitchFamily="18" charset="0"/>
                <a:cs typeface="Times New Roman" panose="02020603050405020304" pitchFamily="18" charset="0"/>
              </a:rPr>
              <a:t>valuable employees </a:t>
            </a:r>
            <a:r>
              <a:rPr lang="en-GB" sz="1900" dirty="0">
                <a:latin typeface="Times New Roman" panose="02020603050405020304" pitchFamily="18" charset="0"/>
                <a:cs typeface="Times New Roman" panose="02020603050405020304" pitchFamily="18" charset="0"/>
              </a:rPr>
              <a:t>showing potential.</a:t>
            </a:r>
          </a:p>
          <a:p>
            <a:pPr marL="285750" indent="-285750" algn="just">
              <a:lnSpc>
                <a:spcPct val="150000"/>
              </a:lnSpc>
              <a:buFont typeface="Wingdings" panose="05000000000000000000" pitchFamily="2" charset="2"/>
              <a:buChar char="ü"/>
            </a:pPr>
            <a:r>
              <a:rPr lang="en-GB" sz="1900" dirty="0" smtClean="0">
                <a:latin typeface="Times New Roman" panose="02020603050405020304" pitchFamily="18" charset="0"/>
                <a:cs typeface="Times New Roman" panose="02020603050405020304" pitchFamily="18" charset="0"/>
              </a:rPr>
              <a:t>Assigns </a:t>
            </a:r>
            <a:r>
              <a:rPr lang="en-GB" sz="1900" b="1" dirty="0">
                <a:latin typeface="Times New Roman" panose="02020603050405020304" pitchFamily="18" charset="0"/>
                <a:cs typeface="Times New Roman" panose="02020603050405020304" pitchFamily="18" charset="0"/>
              </a:rPr>
              <a:t>overall performance </a:t>
            </a:r>
            <a:r>
              <a:rPr lang="en-GB" sz="1900" dirty="0">
                <a:latin typeface="Times New Roman" panose="02020603050405020304" pitchFamily="18" charset="0"/>
                <a:cs typeface="Times New Roman" panose="02020603050405020304" pitchFamily="18" charset="0"/>
              </a:rPr>
              <a:t>ratings</a:t>
            </a:r>
            <a:r>
              <a:rPr lang="en-GB" sz="1900" dirty="0" smtClean="0">
                <a:latin typeface="Times New Roman" panose="02020603050405020304" pitchFamily="18" charset="0"/>
                <a:cs typeface="Times New Roman" panose="02020603050405020304" pitchFamily="18" charset="0"/>
              </a:rPr>
              <a:t>.</a:t>
            </a:r>
            <a:endParaRPr lang="en-US" sz="1900"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ü"/>
            </a:pPr>
            <a:r>
              <a:rPr lang="en-GB" sz="1900" dirty="0" smtClean="0">
                <a:latin typeface="Times New Roman" panose="02020603050405020304" pitchFamily="18" charset="0"/>
                <a:cs typeface="Times New Roman" panose="02020603050405020304" pitchFamily="18" charset="0"/>
              </a:rPr>
              <a:t>Employee </a:t>
            </a:r>
            <a:r>
              <a:rPr lang="en-GB" sz="1900" dirty="0">
                <a:latin typeface="Times New Roman" panose="02020603050405020304" pitchFamily="18" charset="0"/>
                <a:cs typeface="Times New Roman" panose="02020603050405020304" pitchFamily="18" charset="0"/>
              </a:rPr>
              <a:t>retention practices help support an organization’s </a:t>
            </a:r>
            <a:r>
              <a:rPr lang="en-GB" sz="1900" dirty="0" smtClean="0">
                <a:latin typeface="Times New Roman" panose="02020603050405020304" pitchFamily="18" charset="0"/>
                <a:cs typeface="Times New Roman" panose="02020603050405020304" pitchFamily="18" charset="0"/>
              </a:rPr>
              <a:t>productivity.</a:t>
            </a:r>
            <a:r>
              <a:rPr lang="en-GB" sz="1900" dirty="0">
                <a:latin typeface="Times New Roman" panose="02020603050405020304" pitchFamily="18" charset="0"/>
                <a:cs typeface="Times New Roman" panose="02020603050405020304" pitchFamily="18" charset="0"/>
              </a:rPr>
              <a:t> </a:t>
            </a:r>
            <a:endParaRPr lang="en-GB" sz="1900" dirty="0" smtClean="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ü"/>
            </a:pPr>
            <a:r>
              <a:rPr lang="en-GB" sz="1900" dirty="0">
                <a:latin typeface="Times New Roman" panose="02020603050405020304" pitchFamily="18" charset="0"/>
                <a:cs typeface="Times New Roman" panose="02020603050405020304" pitchFamily="18" charset="0"/>
              </a:rPr>
              <a:t>E</a:t>
            </a:r>
            <a:r>
              <a:rPr lang="en-GB" sz="1900" dirty="0" smtClean="0">
                <a:latin typeface="Times New Roman" panose="02020603050405020304" pitchFamily="18" charset="0"/>
                <a:cs typeface="Times New Roman" panose="02020603050405020304" pitchFamily="18" charset="0"/>
              </a:rPr>
              <a:t>mployee's overall performance </a:t>
            </a:r>
            <a:r>
              <a:rPr lang="en-GB" sz="1900" dirty="0">
                <a:latin typeface="Times New Roman" panose="02020603050405020304" pitchFamily="18" charset="0"/>
                <a:cs typeface="Times New Roman" panose="02020603050405020304" pitchFamily="18" charset="0"/>
              </a:rPr>
              <a:t>and salary level </a:t>
            </a:r>
            <a:r>
              <a:rPr lang="en-GB" sz="1900" dirty="0" smtClean="0">
                <a:latin typeface="Times New Roman" panose="02020603050405020304" pitchFamily="18" charset="0"/>
                <a:cs typeface="Times New Roman" panose="02020603050405020304" pitchFamily="18" charset="0"/>
              </a:rPr>
              <a:t>to </a:t>
            </a:r>
            <a:r>
              <a:rPr lang="en-GB" sz="1900" dirty="0">
                <a:latin typeface="Times New Roman" panose="02020603050405020304" pitchFamily="18" charset="0"/>
                <a:cs typeface="Times New Roman" panose="02020603050405020304" pitchFamily="18" charset="0"/>
              </a:rPr>
              <a:t>position responsibilities must be </a:t>
            </a:r>
            <a:r>
              <a:rPr lang="en-GB" sz="1900" b="1" dirty="0">
                <a:latin typeface="Times New Roman" panose="02020603050405020304" pitchFamily="18" charset="0"/>
                <a:cs typeface="Times New Roman" panose="02020603050405020304" pitchFamily="18" charset="0"/>
              </a:rPr>
              <a:t>evaluated</a:t>
            </a:r>
            <a:r>
              <a:rPr lang="en-GB" sz="1900" dirty="0">
                <a:latin typeface="Times New Roman" panose="02020603050405020304" pitchFamily="18" charset="0"/>
                <a:cs typeface="Times New Roman" panose="02020603050405020304" pitchFamily="18" charset="0"/>
              </a:rPr>
              <a:t> to determine whether a salary increase is warranted</a:t>
            </a:r>
            <a:r>
              <a:rPr lang="en-GB" sz="19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ü"/>
            </a:pPr>
            <a:r>
              <a:rPr lang="en-US" sz="1900" dirty="0" smtClean="0">
                <a:latin typeface="Times New Roman" panose="02020603050405020304" pitchFamily="18" charset="0"/>
                <a:cs typeface="Times New Roman" panose="02020603050405020304" pitchFamily="18" charset="0"/>
              </a:rPr>
              <a:t>Focus not only on salary but also </a:t>
            </a:r>
            <a:r>
              <a:rPr lang="en-US" sz="1900" b="1" dirty="0" smtClean="0">
                <a:latin typeface="Times New Roman" panose="02020603050405020304" pitchFamily="18" charset="0"/>
                <a:cs typeface="Times New Roman" panose="02020603050405020304" pitchFamily="18" charset="0"/>
              </a:rPr>
              <a:t>churn prediction </a:t>
            </a:r>
            <a:r>
              <a:rPr lang="en-US" sz="1900" dirty="0" smtClean="0">
                <a:latin typeface="Times New Roman" panose="02020603050405020304" pitchFamily="18" charset="0"/>
                <a:cs typeface="Times New Roman" panose="02020603050405020304" pitchFamily="18" charset="0"/>
              </a:rPr>
              <a:t>of an employee</a:t>
            </a:r>
          </a:p>
        </p:txBody>
      </p:sp>
      <p:sp>
        <p:nvSpPr>
          <p:cNvPr id="5" name="Title 1"/>
          <p:cNvSpPr>
            <a:spLocks noGrp="1"/>
          </p:cNvSpPr>
          <p:nvPr>
            <p:ph type="title"/>
          </p:nvPr>
        </p:nvSpPr>
        <p:spPr>
          <a:xfrm>
            <a:off x="0" y="0"/>
            <a:ext cx="9144000" cy="1143000"/>
          </a:xfrm>
        </p:spPr>
        <p:txBody>
          <a:bodyPr>
            <a:normAutofit/>
          </a:bodyPr>
          <a:lstStyle/>
          <a:p>
            <a:r>
              <a:rPr lang="en-US" sz="3600" dirty="0" smtClean="0">
                <a:latin typeface="Algerian" panose="04020705040A02060702" pitchFamily="82" charset="0"/>
              </a:rPr>
              <a:t>Purpose</a:t>
            </a:r>
            <a:endParaRPr lang="en-GB" sz="4000" dirty="0">
              <a:latin typeface="Algerian" panose="04020705040A02060702" pitchFamily="82" charset="0"/>
            </a:endParaRPr>
          </a:p>
        </p:txBody>
      </p:sp>
      <p:sp>
        <p:nvSpPr>
          <p:cNvPr id="2" name="Slide Number Placeholder 1"/>
          <p:cNvSpPr>
            <a:spLocks noGrp="1"/>
          </p:cNvSpPr>
          <p:nvPr>
            <p:ph type="sldNum" sz="quarter" idx="12"/>
          </p:nvPr>
        </p:nvSpPr>
        <p:spPr/>
        <p:txBody>
          <a:bodyPr/>
          <a:lstStyle/>
          <a:p>
            <a:fld id="{3C34788B-A328-40B4-96DA-57139D3AAE30}" type="slidenum">
              <a:rPr lang="en-GB" smtClean="0"/>
              <a:t>5</a:t>
            </a:fld>
            <a:endParaRPr lang="en-GB"/>
          </a:p>
        </p:txBody>
      </p:sp>
      <p:sp>
        <p:nvSpPr>
          <p:cNvPr id="6" name="Footer Placeholder 5"/>
          <p:cNvSpPr>
            <a:spLocks noGrp="1"/>
          </p:cNvSpPr>
          <p:nvPr>
            <p:ph type="ftr" sz="quarter" idx="11"/>
          </p:nvPr>
        </p:nvSpPr>
        <p:spPr/>
        <p:txBody>
          <a:bodyPr/>
          <a:lstStyle/>
          <a:p>
            <a:r>
              <a:rPr lang="en-GB" smtClean="0"/>
              <a:t>M.Tech(CSE) Major Project</a:t>
            </a:r>
            <a:endParaRPr lang="en-GB"/>
          </a:p>
        </p:txBody>
      </p:sp>
    </p:spTree>
    <p:extLst>
      <p:ext uri="{BB962C8B-B14F-4D97-AF65-F5344CB8AC3E}">
        <p14:creationId xmlns:p14="http://schemas.microsoft.com/office/powerpoint/2010/main" val="31384638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sp>
        <p:nvSpPr>
          <p:cNvPr id="4" name="Footer Placeholder 3"/>
          <p:cNvSpPr>
            <a:spLocks noGrp="1"/>
          </p:cNvSpPr>
          <p:nvPr>
            <p:ph type="ftr" sz="quarter" idx="11"/>
          </p:nvPr>
        </p:nvSpPr>
        <p:spPr/>
        <p:txBody>
          <a:bodyPr/>
          <a:lstStyle/>
          <a:p>
            <a:r>
              <a:rPr lang="en-GB" smtClean="0"/>
              <a:t>M.Tech(CSE) Major Project</a:t>
            </a:r>
            <a:endParaRPr lang="en-GB"/>
          </a:p>
        </p:txBody>
      </p:sp>
      <p:sp>
        <p:nvSpPr>
          <p:cNvPr id="5" name="Slide Number Placeholder 4"/>
          <p:cNvSpPr>
            <a:spLocks noGrp="1"/>
          </p:cNvSpPr>
          <p:nvPr>
            <p:ph type="sldNum" sz="quarter" idx="12"/>
          </p:nvPr>
        </p:nvSpPr>
        <p:spPr/>
        <p:txBody>
          <a:bodyPr/>
          <a:lstStyle/>
          <a:p>
            <a:fld id="{3C34788B-A328-40B4-96DA-57139D3AAE30}" type="slidenum">
              <a:rPr lang="en-GB" smtClean="0"/>
              <a:t>6</a:t>
            </a:fld>
            <a:endParaRPr lang="en-GB"/>
          </a:p>
        </p:txBody>
      </p:sp>
      <p:pic>
        <p:nvPicPr>
          <p:cNvPr id="6" name="Content Placeholder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89559"/>
            <a:ext cx="9144000" cy="68926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7" name="Rectangle 6"/>
          <p:cNvSpPr/>
          <p:nvPr/>
        </p:nvSpPr>
        <p:spPr>
          <a:xfrm>
            <a:off x="0" y="1066800"/>
            <a:ext cx="9144000" cy="4039567"/>
          </a:xfrm>
          <a:prstGeom prst="rect">
            <a:avLst/>
          </a:prstGeom>
        </p:spPr>
        <p:txBody>
          <a:bodyPr wrap="square">
            <a:spAutoFit/>
          </a:bodyPr>
          <a:lstStyle/>
          <a:p>
            <a:pPr marL="285750" indent="-285750" algn="just">
              <a:lnSpc>
                <a:spcPct val="150000"/>
              </a:lnSpc>
              <a:buFont typeface="Wingdings" panose="05000000000000000000" pitchFamily="2" charset="2"/>
              <a:buChar char="ü"/>
            </a:pPr>
            <a:r>
              <a:rPr lang="en-GB" sz="1900" b="1" dirty="0" smtClean="0">
                <a:latin typeface="Times New Roman" panose="02020603050405020304" pitchFamily="18" charset="0"/>
                <a:cs typeface="Times New Roman" panose="02020603050405020304" pitchFamily="18" charset="0"/>
              </a:rPr>
              <a:t>RESPECT</a:t>
            </a:r>
            <a:r>
              <a:rPr lang="en-GB" sz="1900" dirty="0" smtClean="0">
                <a:latin typeface="Times New Roman" panose="02020603050405020304" pitchFamily="18" charset="0"/>
                <a:cs typeface="Times New Roman" panose="02020603050405020304" pitchFamily="18" charset="0"/>
              </a:rPr>
              <a:t> </a:t>
            </a:r>
            <a:r>
              <a:rPr lang="en-GB" sz="1900" dirty="0">
                <a:latin typeface="Times New Roman" panose="02020603050405020304" pitchFamily="18" charset="0"/>
                <a:cs typeface="Times New Roman" panose="02020603050405020304" pitchFamily="18" charset="0"/>
              </a:rPr>
              <a:t>is a term that refers to a </a:t>
            </a:r>
            <a:r>
              <a:rPr lang="en-GB" sz="1900" dirty="0" smtClean="0">
                <a:latin typeface="Times New Roman" panose="02020603050405020304" pitchFamily="18" charset="0"/>
                <a:cs typeface="Times New Roman" panose="02020603050405020304" pitchFamily="18" charset="0"/>
              </a:rPr>
              <a:t>special </a:t>
            </a:r>
            <a:r>
              <a:rPr lang="en-GB" sz="1900" dirty="0">
                <a:latin typeface="Times New Roman" panose="02020603050405020304" pitchFamily="18" charset="0"/>
                <a:cs typeface="Times New Roman" panose="02020603050405020304" pitchFamily="18" charset="0"/>
              </a:rPr>
              <a:t>regard, or unique treatment. Respect is the cornerstone of keeping your employees, as the pyramid illustrates. If you don't appreciate your employees, </a:t>
            </a:r>
            <a:r>
              <a:rPr lang="en-GB" sz="1900" b="1" dirty="0">
                <a:latin typeface="Times New Roman" panose="02020603050405020304" pitchFamily="18" charset="0"/>
                <a:cs typeface="Times New Roman" panose="02020603050405020304" pitchFamily="18" charset="0"/>
              </a:rPr>
              <a:t>RECOGNITION</a:t>
            </a:r>
            <a:r>
              <a:rPr lang="en-GB" sz="1900" dirty="0">
                <a:latin typeface="Times New Roman" panose="02020603050405020304" pitchFamily="18" charset="0"/>
                <a:cs typeface="Times New Roman" panose="02020603050405020304" pitchFamily="18" charset="0"/>
              </a:rPr>
              <a:t> and </a:t>
            </a:r>
            <a:r>
              <a:rPr lang="en-GB" sz="1900" b="1" dirty="0">
                <a:latin typeface="Times New Roman" panose="02020603050405020304" pitchFamily="18" charset="0"/>
                <a:cs typeface="Times New Roman" panose="02020603050405020304" pitchFamily="18" charset="0"/>
              </a:rPr>
              <a:t>REWARDS</a:t>
            </a:r>
            <a:r>
              <a:rPr lang="en-GB" sz="1900" dirty="0">
                <a:latin typeface="Times New Roman" panose="02020603050405020304" pitchFamily="18" charset="0"/>
                <a:cs typeface="Times New Roman" panose="02020603050405020304" pitchFamily="18" charset="0"/>
              </a:rPr>
              <a:t> will have minimal impact</a:t>
            </a:r>
            <a:r>
              <a:rPr lang="en-GB" sz="1900" dirty="0" smtClean="0">
                <a:latin typeface="Times New Roman" panose="02020603050405020304" pitchFamily="18" charset="0"/>
                <a:cs typeface="Times New Roman" panose="02020603050405020304" pitchFamily="18" charset="0"/>
              </a:rPr>
              <a:t>.</a:t>
            </a:r>
          </a:p>
          <a:p>
            <a:pPr marL="285750" indent="-285750" algn="just">
              <a:lnSpc>
                <a:spcPct val="150000"/>
              </a:lnSpc>
              <a:buFont typeface="Wingdings" panose="05000000000000000000" pitchFamily="2" charset="2"/>
              <a:buChar char="ü"/>
            </a:pPr>
            <a:r>
              <a:rPr lang="en-US" sz="1900" dirty="0" smtClean="0">
                <a:latin typeface="Times New Roman" panose="02020603050405020304" pitchFamily="18" charset="0"/>
                <a:cs typeface="Times New Roman" panose="02020603050405020304" pitchFamily="18" charset="0"/>
              </a:rPr>
              <a:t>Most of the research papers describes </a:t>
            </a:r>
            <a:r>
              <a:rPr lang="en-US" sz="1900" b="1" dirty="0" smtClean="0">
                <a:latin typeface="Times New Roman" panose="02020603050405020304" pitchFamily="18" charset="0"/>
                <a:cs typeface="Times New Roman" panose="02020603050405020304" pitchFamily="18" charset="0"/>
              </a:rPr>
              <a:t>retention factors </a:t>
            </a:r>
            <a:r>
              <a:rPr lang="en-US" sz="1900" dirty="0" smtClean="0">
                <a:latin typeface="Times New Roman" panose="02020603050405020304" pitchFamily="18" charset="0"/>
                <a:cs typeface="Times New Roman" panose="02020603050405020304" pitchFamily="18" charset="0"/>
              </a:rPr>
              <a:t>as job satisfaction, commitment, work-life balance, leadership etc...</a:t>
            </a:r>
            <a:endParaRPr lang="en-GB" sz="1900" dirty="0" smtClean="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ü"/>
            </a:pPr>
            <a:r>
              <a:rPr lang="en-GB" sz="1900" dirty="0">
                <a:latin typeface="Times New Roman" panose="02020603050405020304" pitchFamily="18" charset="0"/>
                <a:cs typeface="Times New Roman" panose="02020603050405020304" pitchFamily="18" charset="0"/>
              </a:rPr>
              <a:t> Different theoretical research and studies have been conducted to date in order to determine attrition </a:t>
            </a:r>
            <a:r>
              <a:rPr lang="en-GB" sz="1900" dirty="0" smtClean="0">
                <a:latin typeface="Times New Roman" panose="02020603050405020304" pitchFamily="18" charset="0"/>
                <a:cs typeface="Times New Roman" panose="02020603050405020304" pitchFamily="18" charset="0"/>
              </a:rPr>
              <a:t>prediction.</a:t>
            </a:r>
          </a:p>
          <a:p>
            <a:pPr marL="285750" indent="-285750" algn="just">
              <a:lnSpc>
                <a:spcPct val="150000"/>
              </a:lnSpc>
              <a:buFont typeface="Wingdings" panose="05000000000000000000" pitchFamily="2" charset="2"/>
              <a:buChar char="ü"/>
            </a:pPr>
            <a:r>
              <a:rPr lang="en-GB" sz="1900" dirty="0" smtClean="0">
                <a:latin typeface="Times New Roman" panose="02020603050405020304" pitchFamily="18" charset="0"/>
                <a:cs typeface="Times New Roman" panose="02020603050405020304" pitchFamily="18" charset="0"/>
              </a:rPr>
              <a:t>The </a:t>
            </a:r>
            <a:r>
              <a:rPr lang="en-GB" sz="1900" dirty="0">
                <a:latin typeface="Times New Roman" panose="02020603050405020304" pitchFamily="18" charset="0"/>
                <a:cs typeface="Times New Roman" panose="02020603050405020304" pitchFamily="18" charset="0"/>
              </a:rPr>
              <a:t>machine learning approach was chosen for creating the predictive model for </a:t>
            </a:r>
            <a:r>
              <a:rPr lang="en-GB" sz="1900" b="1" dirty="0">
                <a:latin typeface="Times New Roman" panose="02020603050405020304" pitchFamily="18" charset="0"/>
                <a:cs typeface="Times New Roman" panose="02020603050405020304" pitchFamily="18" charset="0"/>
              </a:rPr>
              <a:t>forecasting employee </a:t>
            </a:r>
            <a:r>
              <a:rPr lang="en-GB" sz="1900" dirty="0">
                <a:latin typeface="Times New Roman" panose="02020603050405020304" pitchFamily="18" charset="0"/>
                <a:cs typeface="Times New Roman" panose="02020603050405020304" pitchFamily="18" charset="0"/>
              </a:rPr>
              <a:t>attrition based on the accuracy calculated by the confusion matrix. </a:t>
            </a:r>
            <a:endParaRPr lang="en-US" sz="1900" dirty="0" smtClean="0">
              <a:latin typeface="Times New Roman" panose="02020603050405020304" pitchFamily="18" charset="0"/>
              <a:cs typeface="Times New Roman" panose="02020603050405020304" pitchFamily="18" charset="0"/>
            </a:endParaRPr>
          </a:p>
        </p:txBody>
      </p:sp>
      <p:sp>
        <p:nvSpPr>
          <p:cNvPr id="8" name="Title 1"/>
          <p:cNvSpPr txBox="1">
            <a:spLocks/>
          </p:cNvSpPr>
          <p:nvPr/>
        </p:nvSpPr>
        <p:spPr>
          <a:xfrm>
            <a:off x="0" y="0"/>
            <a:ext cx="91440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smtClean="0">
                <a:latin typeface="Algerian" panose="04020705040A02060702" pitchFamily="82" charset="0"/>
              </a:rPr>
              <a:t>Literature </a:t>
            </a:r>
            <a:r>
              <a:rPr lang="en-US" sz="3600" dirty="0" smtClean="0">
                <a:latin typeface="Algerian" panose="04020705040A02060702" pitchFamily="82" charset="0"/>
              </a:rPr>
              <a:t>conclusion</a:t>
            </a:r>
            <a:endParaRPr lang="en-GB" sz="4000" dirty="0">
              <a:latin typeface="Algerian" panose="04020705040A02060702" pitchFamily="82" charset="0"/>
            </a:endParaRPr>
          </a:p>
        </p:txBody>
      </p:sp>
    </p:spTree>
    <p:extLst>
      <p:ext uri="{BB962C8B-B14F-4D97-AF65-F5344CB8AC3E}">
        <p14:creationId xmlns:p14="http://schemas.microsoft.com/office/powerpoint/2010/main" val="119208251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990600"/>
            <a:ext cx="9144000" cy="58674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Footer Placeholder 3"/>
          <p:cNvSpPr>
            <a:spLocks noGrp="1"/>
          </p:cNvSpPr>
          <p:nvPr>
            <p:ph type="ftr" sz="quarter" idx="11"/>
          </p:nvPr>
        </p:nvSpPr>
        <p:spPr/>
        <p:txBody>
          <a:bodyPr/>
          <a:lstStyle/>
          <a:p>
            <a:r>
              <a:rPr lang="en-GB" smtClean="0"/>
              <a:t>M.Tech(CSE) Major Project</a:t>
            </a:r>
            <a:endParaRPr lang="en-GB"/>
          </a:p>
        </p:txBody>
      </p:sp>
      <p:sp>
        <p:nvSpPr>
          <p:cNvPr id="5" name="Slide Number Placeholder 4"/>
          <p:cNvSpPr>
            <a:spLocks noGrp="1"/>
          </p:cNvSpPr>
          <p:nvPr>
            <p:ph type="sldNum" sz="quarter" idx="12"/>
          </p:nvPr>
        </p:nvSpPr>
        <p:spPr/>
        <p:txBody>
          <a:bodyPr/>
          <a:lstStyle/>
          <a:p>
            <a:fld id="{3C34788B-A328-40B4-96DA-57139D3AAE30}" type="slidenum">
              <a:rPr lang="en-GB" smtClean="0"/>
              <a:t>7</a:t>
            </a:fld>
            <a:endParaRPr lang="en-GB"/>
          </a:p>
        </p:txBody>
      </p:sp>
      <p:sp>
        <p:nvSpPr>
          <p:cNvPr id="8" name="Title 1"/>
          <p:cNvSpPr>
            <a:spLocks noGrp="1"/>
          </p:cNvSpPr>
          <p:nvPr>
            <p:ph type="title"/>
          </p:nvPr>
        </p:nvSpPr>
        <p:spPr>
          <a:xfrm>
            <a:off x="0" y="-76200"/>
            <a:ext cx="9144000" cy="1143000"/>
          </a:xfrm>
        </p:spPr>
        <p:txBody>
          <a:bodyPr>
            <a:normAutofit/>
          </a:bodyPr>
          <a:lstStyle/>
          <a:p>
            <a:r>
              <a:rPr lang="en-US" sz="3600" dirty="0" smtClean="0">
                <a:latin typeface="Algerian" panose="04020705040A02060702" pitchFamily="82" charset="0"/>
              </a:rPr>
              <a:t>System architecture</a:t>
            </a:r>
            <a:endParaRPr lang="en-GB" sz="4000" dirty="0">
              <a:latin typeface="Algerian" panose="04020705040A02060702" pitchFamily="82" charset="0"/>
            </a:endParaRPr>
          </a:p>
        </p:txBody>
      </p:sp>
    </p:spTree>
    <p:extLst>
      <p:ext uri="{BB962C8B-B14F-4D97-AF65-F5344CB8AC3E}">
        <p14:creationId xmlns:p14="http://schemas.microsoft.com/office/powerpoint/2010/main" val="21293165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2"/>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34636"/>
            <a:ext cx="9144000" cy="68926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Title 1"/>
          <p:cNvSpPr>
            <a:spLocks noGrp="1"/>
          </p:cNvSpPr>
          <p:nvPr>
            <p:ph type="title"/>
          </p:nvPr>
        </p:nvSpPr>
        <p:spPr>
          <a:xfrm>
            <a:off x="0" y="0"/>
            <a:ext cx="9144000" cy="1143000"/>
          </a:xfrm>
        </p:spPr>
        <p:txBody>
          <a:bodyPr>
            <a:normAutofit/>
          </a:bodyPr>
          <a:lstStyle/>
          <a:p>
            <a:r>
              <a:rPr lang="en-US" sz="3600" dirty="0" smtClean="0">
                <a:latin typeface="Algerian" panose="04020705040A02060702" pitchFamily="82" charset="0"/>
              </a:rPr>
              <a:t>Implementation</a:t>
            </a:r>
            <a:endParaRPr lang="en-GB" sz="4000" dirty="0">
              <a:latin typeface="Algerian" panose="04020705040A02060702" pitchFamily="82" charset="0"/>
            </a:endParaRPr>
          </a:p>
        </p:txBody>
      </p:sp>
      <p:sp>
        <p:nvSpPr>
          <p:cNvPr id="4" name="Content Placeholder 2"/>
          <p:cNvSpPr txBox="1">
            <a:spLocks/>
          </p:cNvSpPr>
          <p:nvPr/>
        </p:nvSpPr>
        <p:spPr>
          <a:xfrm>
            <a:off x="381681" y="990600"/>
            <a:ext cx="8568952" cy="5257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400" dirty="0" smtClean="0">
                <a:solidFill>
                  <a:srgbClr val="00B0F0"/>
                </a:solidFill>
              </a:rPr>
              <a:t>Method</a:t>
            </a:r>
            <a:r>
              <a:rPr lang="en-US" sz="2000" dirty="0" smtClean="0">
                <a:solidFill>
                  <a:srgbClr val="00B0F0"/>
                </a:solidFill>
              </a:rPr>
              <a:t>:</a:t>
            </a:r>
          </a:p>
          <a:p>
            <a:pPr>
              <a:buFont typeface="Wingdings" panose="05000000000000000000" pitchFamily="2" charset="2"/>
              <a:buChar char="ü"/>
            </a:pPr>
            <a:r>
              <a:rPr lang="en-GB" sz="2200" dirty="0" smtClean="0">
                <a:latin typeface="Times New Roman" panose="02020603050405020304" pitchFamily="18" charset="0"/>
                <a:cs typeface="Times New Roman" panose="02020603050405020304" pitchFamily="18" charset="0"/>
              </a:rPr>
              <a:t>Consists</a:t>
            </a:r>
            <a:r>
              <a:rPr lang="en-GB" sz="2200" dirty="0">
                <a:latin typeface="Times New Roman" panose="02020603050405020304" pitchFamily="18" charset="0"/>
                <a:cs typeface="Times New Roman" panose="02020603050405020304" pitchFamily="18" charset="0"/>
              </a:rPr>
              <a:t> </a:t>
            </a:r>
            <a:r>
              <a:rPr lang="en-GB" sz="2200" dirty="0" smtClean="0">
                <a:latin typeface="Times New Roman" panose="02020603050405020304" pitchFamily="18" charset="0"/>
                <a:cs typeface="Times New Roman" panose="02020603050405020304" pitchFamily="18" charset="0"/>
              </a:rPr>
              <a:t>of various features to define how the employee </a:t>
            </a:r>
            <a:r>
              <a:rPr lang="en-GB" sz="2200" b="1" dirty="0" smtClean="0">
                <a:latin typeface="Times New Roman" panose="02020603050405020304" pitchFamily="18" charset="0"/>
                <a:cs typeface="Times New Roman" panose="02020603050405020304" pitchFamily="18" charset="0"/>
              </a:rPr>
              <a:t>performance</a:t>
            </a:r>
            <a:r>
              <a:rPr lang="en-GB" sz="2200" dirty="0" smtClean="0">
                <a:latin typeface="Times New Roman" panose="02020603050405020304" pitchFamily="18" charset="0"/>
                <a:cs typeface="Times New Roman" panose="02020603050405020304" pitchFamily="18" charset="0"/>
              </a:rPr>
              <a:t> is measured for future benefits.</a:t>
            </a:r>
          </a:p>
          <a:p>
            <a:pPr>
              <a:buFont typeface="Wingdings" panose="05000000000000000000" pitchFamily="2" charset="2"/>
              <a:buChar char="ü"/>
            </a:pPr>
            <a:r>
              <a:rPr lang="en-US" sz="2200" b="1" dirty="0">
                <a:latin typeface="Times New Roman" panose="02020603050405020304" pitchFamily="18" charset="0"/>
                <a:cs typeface="Times New Roman" panose="02020603050405020304" pitchFamily="18" charset="0"/>
              </a:rPr>
              <a:t>Comparing</a:t>
            </a:r>
            <a:r>
              <a:rPr lang="en-US" sz="2200" dirty="0">
                <a:latin typeface="Times New Roman" panose="02020603050405020304" pitchFamily="18" charset="0"/>
                <a:cs typeface="Times New Roman" panose="02020603050405020304" pitchFamily="18" charset="0"/>
              </a:rPr>
              <a:t> </a:t>
            </a:r>
            <a:r>
              <a:rPr lang="en-GB" sz="2200" dirty="0" smtClean="0">
                <a:latin typeface="Times New Roman" panose="02020603050405020304" pitchFamily="18" charset="0"/>
                <a:cs typeface="Times New Roman" panose="02020603050405020304" pitchFamily="18" charset="0"/>
              </a:rPr>
              <a:t>different machine learning algorithms and goal is </a:t>
            </a:r>
            <a:r>
              <a:rPr lang="en-GB" sz="2200" dirty="0">
                <a:latin typeface="Times New Roman" panose="02020603050405020304" pitchFamily="18" charset="0"/>
                <a:cs typeface="Times New Roman" panose="02020603050405020304" pitchFamily="18" charset="0"/>
              </a:rPr>
              <a:t>to </a:t>
            </a:r>
            <a:r>
              <a:rPr lang="en-GB" sz="2200" dirty="0" smtClean="0">
                <a:latin typeface="Times New Roman" panose="02020603050405020304" pitchFamily="18" charset="0"/>
                <a:cs typeface="Times New Roman" panose="02020603050405020304" pitchFamily="18" charset="0"/>
              </a:rPr>
              <a:t>make </a:t>
            </a:r>
            <a:r>
              <a:rPr lang="en-GB" sz="2200" dirty="0">
                <a:latin typeface="Times New Roman" panose="02020603050405020304" pitchFamily="18" charset="0"/>
                <a:cs typeface="Times New Roman" panose="02020603050405020304" pitchFamily="18" charset="0"/>
              </a:rPr>
              <a:t>a prediction correctly </a:t>
            </a:r>
            <a:r>
              <a:rPr lang="en-GB" sz="2200" dirty="0" smtClean="0">
                <a:latin typeface="Times New Roman" panose="02020603050405020304" pitchFamily="18" charset="0"/>
                <a:cs typeface="Times New Roman" panose="02020603050405020304" pitchFamily="18" charset="0"/>
              </a:rPr>
              <a:t>and calculate </a:t>
            </a:r>
            <a:r>
              <a:rPr lang="en-GB" sz="2200" b="1" dirty="0" smtClean="0">
                <a:latin typeface="Times New Roman" panose="02020603050405020304" pitchFamily="18" charset="0"/>
                <a:cs typeface="Times New Roman" panose="02020603050405020304" pitchFamily="18" charset="0"/>
              </a:rPr>
              <a:t>accuracy</a:t>
            </a:r>
            <a:r>
              <a:rPr lang="en-GB" sz="2200" dirty="0" smtClean="0">
                <a:latin typeface="Times New Roman" panose="02020603050405020304" pitchFamily="18" charset="0"/>
                <a:cs typeface="Times New Roman" panose="02020603050405020304" pitchFamily="18" charset="0"/>
              </a:rPr>
              <a:t> to know which algorithm give better performance.</a:t>
            </a:r>
          </a:p>
          <a:p>
            <a:pPr>
              <a:buFont typeface="Wingdings" panose="05000000000000000000" pitchFamily="2" charset="2"/>
              <a:buChar char="ü"/>
            </a:pPr>
            <a:r>
              <a:rPr lang="en-US" sz="2200" dirty="0" smtClean="0">
                <a:latin typeface="Times New Roman" panose="02020603050405020304" pitchFamily="18" charset="0"/>
                <a:cs typeface="Times New Roman" panose="02020603050405020304" pitchFamily="18" charset="0"/>
              </a:rPr>
              <a:t>Dataset consists of : Time spent, n-projects, status, salary etc.</a:t>
            </a:r>
          </a:p>
          <a:p>
            <a:pPr>
              <a:buFont typeface="Wingdings" panose="05000000000000000000" pitchFamily="2" charset="2"/>
              <a:buChar char="ü"/>
            </a:pPr>
            <a:r>
              <a:rPr lang="en-GB" sz="2200" dirty="0" smtClean="0">
                <a:latin typeface="Times New Roman" panose="02020603050405020304" pitchFamily="18" charset="0"/>
                <a:cs typeface="Times New Roman" panose="02020603050405020304" pitchFamily="18" charset="0"/>
              </a:rPr>
              <a:t>A </a:t>
            </a:r>
            <a:r>
              <a:rPr lang="en-GB" sz="2200" dirty="0">
                <a:latin typeface="Times New Roman" panose="02020603050405020304" pitchFamily="18" charset="0"/>
                <a:cs typeface="Times New Roman" panose="02020603050405020304" pitchFamily="18" charset="0"/>
              </a:rPr>
              <a:t>typical question asked by a beginner, when facing a wide variety of machine learning algorithms, is “</a:t>
            </a:r>
            <a:r>
              <a:rPr lang="en-GB" sz="2200" b="1" dirty="0">
                <a:latin typeface="Times New Roman" panose="02020603050405020304" pitchFamily="18" charset="0"/>
                <a:cs typeface="Times New Roman" panose="02020603050405020304" pitchFamily="18" charset="0"/>
              </a:rPr>
              <a:t>which algorithm should I use</a:t>
            </a:r>
            <a:r>
              <a:rPr lang="en-GB" sz="2200" dirty="0">
                <a:latin typeface="Times New Roman" panose="02020603050405020304" pitchFamily="18" charset="0"/>
                <a:cs typeface="Times New Roman" panose="02020603050405020304" pitchFamily="18" charset="0"/>
              </a:rPr>
              <a:t>?” The answer to the question varies depending on many factors, including: (1) The size, quality, and nature of data; (2) The available computational time; </a:t>
            </a:r>
            <a:r>
              <a:rPr lang="en-GB" sz="2200" dirty="0" smtClean="0">
                <a:latin typeface="Times New Roman" panose="02020603050405020304" pitchFamily="18" charset="0"/>
                <a:cs typeface="Times New Roman" panose="02020603050405020304" pitchFamily="18" charset="0"/>
              </a:rPr>
              <a:t>and (3) </a:t>
            </a:r>
            <a:r>
              <a:rPr lang="en-GB" sz="2200" dirty="0">
                <a:latin typeface="Times New Roman" panose="02020603050405020304" pitchFamily="18" charset="0"/>
                <a:cs typeface="Times New Roman" panose="02020603050405020304" pitchFamily="18" charset="0"/>
              </a:rPr>
              <a:t>What you want to do with the data.</a:t>
            </a:r>
          </a:p>
          <a:p>
            <a:pPr>
              <a:buFont typeface="Wingdings" panose="05000000000000000000" pitchFamily="2" charset="2"/>
              <a:buChar char="ü"/>
            </a:pPr>
            <a:endParaRPr lang="en-GB" sz="21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3C34788B-A328-40B4-96DA-57139D3AAE30}" type="slidenum">
              <a:rPr lang="en-GB" smtClean="0"/>
              <a:t>8</a:t>
            </a:fld>
            <a:endParaRPr lang="en-GB"/>
          </a:p>
        </p:txBody>
      </p:sp>
      <p:sp>
        <p:nvSpPr>
          <p:cNvPr id="6" name="Footer Placeholder 5"/>
          <p:cNvSpPr>
            <a:spLocks noGrp="1"/>
          </p:cNvSpPr>
          <p:nvPr>
            <p:ph type="ftr" sz="quarter" idx="11"/>
          </p:nvPr>
        </p:nvSpPr>
        <p:spPr/>
        <p:txBody>
          <a:bodyPr/>
          <a:lstStyle/>
          <a:p>
            <a:r>
              <a:rPr lang="en-GB" smtClean="0"/>
              <a:t>M.Tech(CSE) Major Project</a:t>
            </a:r>
            <a:endParaRPr lang="en-GB"/>
          </a:p>
        </p:txBody>
      </p:sp>
    </p:spTree>
    <p:extLst>
      <p:ext uri="{BB962C8B-B14F-4D97-AF65-F5344CB8AC3E}">
        <p14:creationId xmlns:p14="http://schemas.microsoft.com/office/powerpoint/2010/main" val="3521524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 y="990600"/>
            <a:ext cx="8763000" cy="2133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Footer Placeholder 3"/>
          <p:cNvSpPr>
            <a:spLocks noGrp="1"/>
          </p:cNvSpPr>
          <p:nvPr>
            <p:ph type="ftr" sz="quarter" idx="11"/>
          </p:nvPr>
        </p:nvSpPr>
        <p:spPr/>
        <p:txBody>
          <a:bodyPr/>
          <a:lstStyle/>
          <a:p>
            <a:r>
              <a:rPr lang="en-GB" smtClean="0"/>
              <a:t>M.Tech(CSE) Major Project</a:t>
            </a:r>
            <a:endParaRPr lang="en-GB"/>
          </a:p>
        </p:txBody>
      </p:sp>
      <p:sp>
        <p:nvSpPr>
          <p:cNvPr id="5" name="Slide Number Placeholder 4"/>
          <p:cNvSpPr>
            <a:spLocks noGrp="1"/>
          </p:cNvSpPr>
          <p:nvPr>
            <p:ph type="sldNum" sz="quarter" idx="12"/>
          </p:nvPr>
        </p:nvSpPr>
        <p:spPr/>
        <p:txBody>
          <a:bodyPr/>
          <a:lstStyle/>
          <a:p>
            <a:fld id="{3C34788B-A328-40B4-96DA-57139D3AAE30}" type="slidenum">
              <a:rPr lang="en-GB" smtClean="0"/>
              <a:t>9</a:t>
            </a:fld>
            <a:endParaRPr lang="en-GB"/>
          </a:p>
        </p:txBody>
      </p:sp>
      <p:sp>
        <p:nvSpPr>
          <p:cNvPr id="7" name="Title 1"/>
          <p:cNvSpPr txBox="1">
            <a:spLocks/>
          </p:cNvSpPr>
          <p:nvPr/>
        </p:nvSpPr>
        <p:spPr>
          <a:xfrm>
            <a:off x="2438400" y="114300"/>
            <a:ext cx="42672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3200" dirty="0" smtClean="0">
                <a:latin typeface="Algerian" panose="04020705040A02060702" pitchFamily="82" charset="0"/>
              </a:rPr>
              <a:t>screenshots</a:t>
            </a:r>
            <a:endParaRPr lang="en-GB" sz="2800" dirty="0">
              <a:latin typeface="Algerian" panose="04020705040A02060702" pitchFamily="82" charset="0"/>
            </a:endParaRPr>
          </a:p>
        </p:txBody>
      </p:sp>
      <p:sp>
        <p:nvSpPr>
          <p:cNvPr id="9" name="Rectangle 8"/>
          <p:cNvSpPr/>
          <p:nvPr/>
        </p:nvSpPr>
        <p:spPr>
          <a:xfrm>
            <a:off x="228600" y="3200400"/>
            <a:ext cx="8686800" cy="3323987"/>
          </a:xfrm>
          <a:prstGeom prst="rect">
            <a:avLst/>
          </a:prstGeom>
        </p:spPr>
        <p:txBody>
          <a:bodyPr wrap="square">
            <a:spAutoFit/>
          </a:bodyPr>
          <a:lstStyle/>
          <a:p>
            <a:pPr lvl="0" algn="ctr">
              <a:lnSpc>
                <a:spcPct val="150000"/>
              </a:lnSpc>
            </a:pPr>
            <a:r>
              <a:rPr lang="en-US" sz="2000" b="1" i="1" dirty="0" smtClean="0">
                <a:latin typeface="Times New Roman" panose="02020603050405020304" pitchFamily="18" charset="0"/>
                <a:cs typeface="Times New Roman" panose="02020603050405020304" pitchFamily="18" charset="0"/>
              </a:rPr>
              <a:t>Figure 1: Dataset for the model</a:t>
            </a:r>
            <a:endParaRPr lang="en-GB" sz="2000" b="1" i="1" dirty="0" smtClean="0">
              <a:latin typeface="Times New Roman" panose="02020603050405020304" pitchFamily="18" charset="0"/>
              <a:cs typeface="Times New Roman" panose="02020603050405020304" pitchFamily="18" charset="0"/>
            </a:endParaRPr>
          </a:p>
          <a:p>
            <a:pPr lvl="0" algn="ctr">
              <a:lnSpc>
                <a:spcPct val="150000"/>
              </a:lnSpc>
            </a:pPr>
            <a:r>
              <a:rPr lang="en-GB" sz="2000" dirty="0" smtClean="0">
                <a:latin typeface="Times New Roman" panose="02020603050405020304" pitchFamily="18" charset="0"/>
                <a:cs typeface="Times New Roman" panose="02020603050405020304" pitchFamily="18" charset="0"/>
              </a:rPr>
              <a:t>The </a:t>
            </a:r>
            <a:r>
              <a:rPr lang="en-GB" sz="2000" dirty="0">
                <a:latin typeface="Times New Roman" panose="02020603050405020304" pitchFamily="18" charset="0"/>
                <a:cs typeface="Times New Roman" panose="02020603050405020304" pitchFamily="18" charset="0"/>
              </a:rPr>
              <a:t>dataset has </a:t>
            </a:r>
            <a:r>
              <a:rPr lang="en-GB" sz="2000" b="1" dirty="0">
                <a:latin typeface="Times New Roman" panose="02020603050405020304" pitchFamily="18" charset="0"/>
                <a:cs typeface="Times New Roman" panose="02020603050405020304" pitchFamily="18" charset="0"/>
              </a:rPr>
              <a:t>14249 observations </a:t>
            </a:r>
            <a:r>
              <a:rPr lang="en-GB" sz="2000" dirty="0">
                <a:latin typeface="Times New Roman" panose="02020603050405020304" pitchFamily="18" charset="0"/>
                <a:cs typeface="Times New Roman" panose="02020603050405020304" pitchFamily="18" charset="0"/>
              </a:rPr>
              <a:t>for past/present employees.</a:t>
            </a:r>
          </a:p>
          <a:p>
            <a:pPr lvl="0" algn="ctr">
              <a:lnSpc>
                <a:spcPct val="150000"/>
              </a:lnSpc>
            </a:pPr>
            <a:r>
              <a:rPr lang="en-GB" sz="2000" dirty="0">
                <a:latin typeface="Times New Roman" panose="02020603050405020304" pitchFamily="18" charset="0"/>
                <a:cs typeface="Times New Roman" panose="02020603050405020304" pitchFamily="18" charset="0"/>
              </a:rPr>
              <a:t>The observations span 12 different departments.</a:t>
            </a:r>
          </a:p>
          <a:p>
            <a:pPr lvl="0" algn="ctr">
              <a:lnSpc>
                <a:spcPct val="150000"/>
              </a:lnSpc>
            </a:pPr>
            <a:r>
              <a:rPr lang="en-GB" sz="2000" dirty="0">
                <a:latin typeface="Times New Roman" panose="02020603050405020304" pitchFamily="18" charset="0"/>
                <a:cs typeface="Times New Roman" panose="02020603050405020304" pitchFamily="18" charset="0"/>
              </a:rPr>
              <a:t>Each observation includes the </a:t>
            </a:r>
            <a:r>
              <a:rPr lang="en-GB" sz="2000" b="1" dirty="0">
                <a:latin typeface="Times New Roman" panose="02020603050405020304" pitchFamily="18" charset="0"/>
                <a:cs typeface="Times New Roman" panose="02020603050405020304" pitchFamily="18" charset="0"/>
              </a:rPr>
              <a:t>employee’s current employment status.</a:t>
            </a:r>
          </a:p>
          <a:p>
            <a:pPr algn="ctr">
              <a:lnSpc>
                <a:spcPct val="150000"/>
              </a:lnSpc>
            </a:pPr>
            <a:r>
              <a:rPr lang="en-GB" sz="2000" i="1" dirty="0">
                <a:latin typeface="Times New Roman" panose="02020603050405020304" pitchFamily="18" charset="0"/>
                <a:cs typeface="Times New Roman" panose="02020603050405020304" pitchFamily="18" charset="0"/>
              </a:rPr>
              <a:t>Target variable: </a:t>
            </a:r>
            <a:r>
              <a:rPr lang="en-GB" sz="2000" dirty="0">
                <a:latin typeface="Times New Roman" panose="02020603050405020304" pitchFamily="18" charset="0"/>
                <a:cs typeface="Times New Roman" panose="02020603050405020304" pitchFamily="18" charset="0"/>
              </a:rPr>
              <a:t>'status' – Current employment status (Employed / Left</a:t>
            </a:r>
            <a:r>
              <a:rPr lang="en-GB" sz="2000" dirty="0" smtClean="0">
                <a:latin typeface="Times New Roman" panose="02020603050405020304" pitchFamily="18" charset="0"/>
                <a:cs typeface="Times New Roman" panose="02020603050405020304" pitchFamily="18" charset="0"/>
              </a:rPr>
              <a:t>)</a:t>
            </a:r>
          </a:p>
          <a:p>
            <a:pPr lvl="0" algn="ctr">
              <a:lnSpc>
                <a:spcPct val="150000"/>
              </a:lnSpc>
            </a:pPr>
            <a:r>
              <a:rPr lang="en-GB" sz="2000" i="1" dirty="0"/>
              <a:t>'tenure' </a:t>
            </a:r>
            <a:r>
              <a:rPr lang="en-GB" sz="2000" dirty="0"/>
              <a:t>– Number of years at the company</a:t>
            </a:r>
          </a:p>
          <a:p>
            <a:pPr algn="ctr">
              <a:lnSpc>
                <a:spcPct val="150000"/>
              </a:lnSpc>
            </a:pPr>
            <a:endParaRPr lang="en-GB" sz="2000" dirty="0" smtClean="0">
              <a:latin typeface="Times New Roman" panose="02020603050405020304" pitchFamily="18" charset="0"/>
              <a:cs typeface="Times New Roman" panose="02020603050405020304" pitchFamily="18" charset="0"/>
            </a:endParaRPr>
          </a:p>
        </p:txBody>
      </p:sp>
      <p:pic>
        <p:nvPicPr>
          <p:cNvPr id="10" name="Content Placeholder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4636"/>
            <a:ext cx="9144000" cy="68926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1" name="Rectangle 10"/>
          <p:cNvSpPr/>
          <p:nvPr/>
        </p:nvSpPr>
        <p:spPr>
          <a:xfrm>
            <a:off x="367145" y="1080274"/>
            <a:ext cx="8610600" cy="4154984"/>
          </a:xfrm>
          <a:prstGeom prst="rect">
            <a:avLst/>
          </a:prstGeom>
        </p:spPr>
        <p:txBody>
          <a:bodyPr wrap="square">
            <a:spAutoFit/>
          </a:bodyPr>
          <a:lstStyle/>
          <a:p>
            <a:pPr marL="342900" indent="-342900">
              <a:lnSpc>
                <a:spcPct val="150000"/>
              </a:lnSpc>
              <a:buFont typeface="Arial" panose="020B0604020202020204" pitchFamily="34" charset="0"/>
              <a:buChar char="•"/>
            </a:pPr>
            <a:r>
              <a:rPr lang="en-GB" sz="2200" b="1" dirty="0" smtClean="0"/>
              <a:t>MODELLING : </a:t>
            </a:r>
            <a:endParaRPr lang="en-GB" sz="2200" b="1" dirty="0" smtClean="0"/>
          </a:p>
          <a:p>
            <a:pPr marL="800100" lvl="1" indent="-342900">
              <a:lnSpc>
                <a:spcPct val="150000"/>
              </a:lnSpc>
              <a:buFont typeface="Wingdings" panose="05000000000000000000" pitchFamily="2" charset="2"/>
              <a:buChar char="ü"/>
            </a:pPr>
            <a:r>
              <a:rPr lang="en-GB" sz="2200" b="1" dirty="0" smtClean="0"/>
              <a:t>Train</a:t>
            </a:r>
            <a:r>
              <a:rPr lang="en-GB" sz="2200" dirty="0" smtClean="0"/>
              <a:t> the machine using data which is well labelled</a:t>
            </a:r>
          </a:p>
          <a:p>
            <a:pPr marL="800100" lvl="1" indent="-342900">
              <a:lnSpc>
                <a:spcPct val="150000"/>
              </a:lnSpc>
              <a:buFont typeface="Wingdings" panose="05000000000000000000" pitchFamily="2" charset="2"/>
              <a:buChar char="ü"/>
            </a:pPr>
            <a:r>
              <a:rPr lang="en-GB" sz="2200" dirty="0" smtClean="0"/>
              <a:t>Produces </a:t>
            </a:r>
            <a:r>
              <a:rPr lang="en-GB" sz="2200" dirty="0"/>
              <a:t>a correct outcome from </a:t>
            </a:r>
            <a:r>
              <a:rPr lang="en-GB" sz="2200" dirty="0" smtClean="0"/>
              <a:t>labelled </a:t>
            </a:r>
            <a:r>
              <a:rPr lang="en-GB" sz="2200" dirty="0"/>
              <a:t>data.</a:t>
            </a:r>
            <a:endParaRPr lang="en-GB" sz="2200" b="1" dirty="0"/>
          </a:p>
          <a:p>
            <a:pPr marL="800100" lvl="1" indent="-342900">
              <a:lnSpc>
                <a:spcPct val="150000"/>
              </a:lnSpc>
              <a:buFont typeface="Wingdings" panose="05000000000000000000" pitchFamily="2" charset="2"/>
              <a:buChar char="ü"/>
            </a:pPr>
            <a:r>
              <a:rPr lang="en-US" sz="2200" dirty="0" smtClean="0"/>
              <a:t>Regression </a:t>
            </a:r>
            <a:r>
              <a:rPr lang="en-US" sz="2200" dirty="0" smtClean="0"/>
              <a:t>output is continuous quantity where as in classification we have </a:t>
            </a:r>
            <a:r>
              <a:rPr lang="en-US" sz="2200" b="1" dirty="0" smtClean="0"/>
              <a:t>categorical quantity</a:t>
            </a:r>
          </a:p>
          <a:p>
            <a:pPr marL="800100" lvl="1" indent="-342900">
              <a:lnSpc>
                <a:spcPct val="150000"/>
              </a:lnSpc>
              <a:buFont typeface="Wingdings" panose="05000000000000000000" pitchFamily="2" charset="2"/>
              <a:buChar char="ü"/>
            </a:pPr>
            <a:r>
              <a:rPr lang="en-GB" sz="2200" dirty="0"/>
              <a:t>A</a:t>
            </a:r>
            <a:r>
              <a:rPr lang="en-GB" sz="2200" dirty="0" smtClean="0"/>
              <a:t>utomatically </a:t>
            </a:r>
            <a:r>
              <a:rPr lang="en-GB" sz="2200" dirty="0"/>
              <a:t>create accurate predictive models</a:t>
            </a:r>
            <a:endParaRPr lang="en-US" sz="2200" dirty="0" smtClean="0"/>
          </a:p>
          <a:p>
            <a:pPr marL="800100" lvl="1" indent="-342900">
              <a:lnSpc>
                <a:spcPct val="150000"/>
              </a:lnSpc>
              <a:buFont typeface="Wingdings" panose="05000000000000000000" pitchFamily="2" charset="2"/>
              <a:buChar char="ü"/>
            </a:pPr>
            <a:r>
              <a:rPr lang="en-GB" sz="2200" dirty="0" smtClean="0"/>
              <a:t>Focus on performance metrics and gives better results.</a:t>
            </a:r>
          </a:p>
          <a:p>
            <a:pPr marL="800100" lvl="1" indent="-342900">
              <a:lnSpc>
                <a:spcPct val="150000"/>
              </a:lnSpc>
              <a:buFont typeface="Wingdings" panose="05000000000000000000" pitchFamily="2" charset="2"/>
              <a:buChar char="ü"/>
            </a:pPr>
            <a:endParaRPr lang="en-GB" sz="2200" dirty="0" smtClean="0"/>
          </a:p>
        </p:txBody>
      </p:sp>
      <p:sp>
        <p:nvSpPr>
          <p:cNvPr id="12" name="Title 1"/>
          <p:cNvSpPr>
            <a:spLocks noGrp="1"/>
          </p:cNvSpPr>
          <p:nvPr>
            <p:ph type="title"/>
          </p:nvPr>
        </p:nvSpPr>
        <p:spPr>
          <a:xfrm>
            <a:off x="0" y="0"/>
            <a:ext cx="9144000" cy="1143000"/>
          </a:xfrm>
        </p:spPr>
        <p:txBody>
          <a:bodyPr>
            <a:normAutofit/>
          </a:bodyPr>
          <a:lstStyle/>
          <a:p>
            <a:r>
              <a:rPr lang="en-US" sz="3600" dirty="0" smtClean="0">
                <a:latin typeface="Algerian" panose="04020705040A02060702" pitchFamily="82" charset="0"/>
              </a:rPr>
              <a:t>Technical concepts</a:t>
            </a:r>
            <a:endParaRPr lang="en-GB" sz="4000" dirty="0">
              <a:latin typeface="Algerian" panose="04020705040A02060702" pitchFamily="82"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38400" y="4705350"/>
            <a:ext cx="3733800" cy="1924050"/>
          </a:xfrm>
          <a:prstGeom prst="rect">
            <a:avLst/>
          </a:prstGeom>
        </p:spPr>
      </p:pic>
    </p:spTree>
    <p:extLst>
      <p:ext uri="{BB962C8B-B14F-4D97-AF65-F5344CB8AC3E}">
        <p14:creationId xmlns:p14="http://schemas.microsoft.com/office/powerpoint/2010/main" val="800273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 y="990600"/>
            <a:ext cx="8763000" cy="2133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Footer Placeholder 3"/>
          <p:cNvSpPr>
            <a:spLocks noGrp="1"/>
          </p:cNvSpPr>
          <p:nvPr>
            <p:ph type="ftr" sz="quarter" idx="11"/>
          </p:nvPr>
        </p:nvSpPr>
        <p:spPr/>
        <p:txBody>
          <a:bodyPr/>
          <a:lstStyle/>
          <a:p>
            <a:r>
              <a:rPr lang="en-GB" smtClean="0"/>
              <a:t>M.Tech(CSE) Major Project</a:t>
            </a:r>
            <a:endParaRPr lang="en-GB"/>
          </a:p>
        </p:txBody>
      </p:sp>
      <p:sp>
        <p:nvSpPr>
          <p:cNvPr id="5" name="Slide Number Placeholder 4"/>
          <p:cNvSpPr>
            <a:spLocks noGrp="1"/>
          </p:cNvSpPr>
          <p:nvPr>
            <p:ph type="sldNum" sz="quarter" idx="12"/>
          </p:nvPr>
        </p:nvSpPr>
        <p:spPr/>
        <p:txBody>
          <a:bodyPr/>
          <a:lstStyle/>
          <a:p>
            <a:fld id="{3C34788B-A328-40B4-96DA-57139D3AAE30}" type="slidenum">
              <a:rPr lang="en-GB" smtClean="0"/>
              <a:t>10</a:t>
            </a:fld>
            <a:endParaRPr lang="en-GB"/>
          </a:p>
        </p:txBody>
      </p:sp>
      <p:sp>
        <p:nvSpPr>
          <p:cNvPr id="7" name="Title 1"/>
          <p:cNvSpPr txBox="1">
            <a:spLocks/>
          </p:cNvSpPr>
          <p:nvPr/>
        </p:nvSpPr>
        <p:spPr>
          <a:xfrm>
            <a:off x="2438400" y="114300"/>
            <a:ext cx="42672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3200" dirty="0" smtClean="0">
                <a:latin typeface="Algerian" panose="04020705040A02060702" pitchFamily="82" charset="0"/>
              </a:rPr>
              <a:t>screenshots</a:t>
            </a:r>
            <a:endParaRPr lang="en-GB" sz="2800" dirty="0">
              <a:latin typeface="Algerian" panose="04020705040A02060702" pitchFamily="82" charset="0"/>
            </a:endParaRPr>
          </a:p>
        </p:txBody>
      </p:sp>
      <p:sp>
        <p:nvSpPr>
          <p:cNvPr id="9" name="Rectangle 8"/>
          <p:cNvSpPr/>
          <p:nvPr/>
        </p:nvSpPr>
        <p:spPr>
          <a:xfrm>
            <a:off x="228600" y="3200400"/>
            <a:ext cx="8686800" cy="3323987"/>
          </a:xfrm>
          <a:prstGeom prst="rect">
            <a:avLst/>
          </a:prstGeom>
        </p:spPr>
        <p:txBody>
          <a:bodyPr wrap="square">
            <a:spAutoFit/>
          </a:bodyPr>
          <a:lstStyle/>
          <a:p>
            <a:pPr lvl="0" algn="ctr">
              <a:lnSpc>
                <a:spcPct val="150000"/>
              </a:lnSpc>
            </a:pPr>
            <a:r>
              <a:rPr lang="en-US" sz="2000" b="1" i="1" dirty="0" smtClean="0">
                <a:latin typeface="Times New Roman" panose="02020603050405020304" pitchFamily="18" charset="0"/>
                <a:cs typeface="Times New Roman" panose="02020603050405020304" pitchFamily="18" charset="0"/>
              </a:rPr>
              <a:t>Figure 1: Dataset for the model</a:t>
            </a:r>
            <a:endParaRPr lang="en-GB" sz="2000" b="1" i="1" dirty="0" smtClean="0">
              <a:latin typeface="Times New Roman" panose="02020603050405020304" pitchFamily="18" charset="0"/>
              <a:cs typeface="Times New Roman" panose="02020603050405020304" pitchFamily="18" charset="0"/>
            </a:endParaRPr>
          </a:p>
          <a:p>
            <a:pPr lvl="0" algn="ctr">
              <a:lnSpc>
                <a:spcPct val="150000"/>
              </a:lnSpc>
            </a:pPr>
            <a:r>
              <a:rPr lang="en-GB" sz="2000" dirty="0" smtClean="0">
                <a:latin typeface="Times New Roman" panose="02020603050405020304" pitchFamily="18" charset="0"/>
                <a:cs typeface="Times New Roman" panose="02020603050405020304" pitchFamily="18" charset="0"/>
              </a:rPr>
              <a:t>The </a:t>
            </a:r>
            <a:r>
              <a:rPr lang="en-GB" sz="2000" dirty="0">
                <a:latin typeface="Times New Roman" panose="02020603050405020304" pitchFamily="18" charset="0"/>
                <a:cs typeface="Times New Roman" panose="02020603050405020304" pitchFamily="18" charset="0"/>
              </a:rPr>
              <a:t>dataset has </a:t>
            </a:r>
            <a:r>
              <a:rPr lang="en-GB" sz="2000" b="1" dirty="0">
                <a:latin typeface="Times New Roman" panose="02020603050405020304" pitchFamily="18" charset="0"/>
                <a:cs typeface="Times New Roman" panose="02020603050405020304" pitchFamily="18" charset="0"/>
              </a:rPr>
              <a:t>14249 observations </a:t>
            </a:r>
            <a:r>
              <a:rPr lang="en-GB" sz="2000" dirty="0">
                <a:latin typeface="Times New Roman" panose="02020603050405020304" pitchFamily="18" charset="0"/>
                <a:cs typeface="Times New Roman" panose="02020603050405020304" pitchFamily="18" charset="0"/>
              </a:rPr>
              <a:t>for past/present employees.</a:t>
            </a:r>
          </a:p>
          <a:p>
            <a:pPr lvl="0" algn="ctr">
              <a:lnSpc>
                <a:spcPct val="150000"/>
              </a:lnSpc>
            </a:pPr>
            <a:r>
              <a:rPr lang="en-GB" sz="2000" dirty="0">
                <a:latin typeface="Times New Roman" panose="02020603050405020304" pitchFamily="18" charset="0"/>
                <a:cs typeface="Times New Roman" panose="02020603050405020304" pitchFamily="18" charset="0"/>
              </a:rPr>
              <a:t>The observations span 12 different departments.</a:t>
            </a:r>
          </a:p>
          <a:p>
            <a:pPr lvl="0" algn="ctr">
              <a:lnSpc>
                <a:spcPct val="150000"/>
              </a:lnSpc>
            </a:pPr>
            <a:r>
              <a:rPr lang="en-GB" sz="2000" dirty="0">
                <a:latin typeface="Times New Roman" panose="02020603050405020304" pitchFamily="18" charset="0"/>
                <a:cs typeface="Times New Roman" panose="02020603050405020304" pitchFamily="18" charset="0"/>
              </a:rPr>
              <a:t>Each observation includes the </a:t>
            </a:r>
            <a:r>
              <a:rPr lang="en-GB" sz="2000" b="1" dirty="0">
                <a:latin typeface="Times New Roman" panose="02020603050405020304" pitchFamily="18" charset="0"/>
                <a:cs typeface="Times New Roman" panose="02020603050405020304" pitchFamily="18" charset="0"/>
              </a:rPr>
              <a:t>employee’s current employment status.</a:t>
            </a:r>
          </a:p>
          <a:p>
            <a:pPr algn="ctr">
              <a:lnSpc>
                <a:spcPct val="150000"/>
              </a:lnSpc>
            </a:pPr>
            <a:r>
              <a:rPr lang="en-GB" sz="2000" i="1" dirty="0">
                <a:latin typeface="Times New Roman" panose="02020603050405020304" pitchFamily="18" charset="0"/>
                <a:cs typeface="Times New Roman" panose="02020603050405020304" pitchFamily="18" charset="0"/>
              </a:rPr>
              <a:t>Target variable: </a:t>
            </a:r>
            <a:r>
              <a:rPr lang="en-GB" sz="2000" dirty="0">
                <a:latin typeface="Times New Roman" panose="02020603050405020304" pitchFamily="18" charset="0"/>
                <a:cs typeface="Times New Roman" panose="02020603050405020304" pitchFamily="18" charset="0"/>
              </a:rPr>
              <a:t>'status' – Current employment status (Employed / Left</a:t>
            </a:r>
            <a:r>
              <a:rPr lang="en-GB" sz="2000" dirty="0" smtClean="0">
                <a:latin typeface="Times New Roman" panose="02020603050405020304" pitchFamily="18" charset="0"/>
                <a:cs typeface="Times New Roman" panose="02020603050405020304" pitchFamily="18" charset="0"/>
              </a:rPr>
              <a:t>)</a:t>
            </a:r>
          </a:p>
          <a:p>
            <a:pPr lvl="0" algn="ctr">
              <a:lnSpc>
                <a:spcPct val="150000"/>
              </a:lnSpc>
            </a:pPr>
            <a:r>
              <a:rPr lang="en-GB" sz="2000" i="1" dirty="0"/>
              <a:t>'tenure' </a:t>
            </a:r>
            <a:r>
              <a:rPr lang="en-GB" sz="2000" dirty="0"/>
              <a:t>– Number of years at the company</a:t>
            </a:r>
          </a:p>
          <a:p>
            <a:pPr algn="ctr">
              <a:lnSpc>
                <a:spcPct val="150000"/>
              </a:lnSpc>
            </a:pPr>
            <a:endParaRPr lang="en-GB" sz="2000" dirty="0" smtClean="0">
              <a:latin typeface="Times New Roman" panose="02020603050405020304" pitchFamily="18" charset="0"/>
              <a:cs typeface="Times New Roman" panose="02020603050405020304" pitchFamily="18" charset="0"/>
            </a:endParaRPr>
          </a:p>
        </p:txBody>
      </p:sp>
      <p:pic>
        <p:nvPicPr>
          <p:cNvPr id="10" name="Content Placeholder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4636"/>
            <a:ext cx="9144000" cy="68926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2" name="Title 1"/>
          <p:cNvSpPr>
            <a:spLocks noGrp="1"/>
          </p:cNvSpPr>
          <p:nvPr>
            <p:ph type="title"/>
          </p:nvPr>
        </p:nvSpPr>
        <p:spPr>
          <a:xfrm>
            <a:off x="0" y="0"/>
            <a:ext cx="9144000" cy="1143000"/>
          </a:xfrm>
        </p:spPr>
        <p:txBody>
          <a:bodyPr>
            <a:normAutofit/>
          </a:bodyPr>
          <a:lstStyle/>
          <a:p>
            <a:r>
              <a:rPr lang="en-US" sz="3600" dirty="0" smtClean="0">
                <a:latin typeface="Algerian" panose="04020705040A02060702" pitchFamily="82" charset="0"/>
              </a:rPr>
              <a:t>Algorithms </a:t>
            </a:r>
            <a:endParaRPr lang="en-GB" sz="4000" dirty="0">
              <a:latin typeface="Algerian" panose="04020705040A02060702" pitchFamily="82" charset="0"/>
            </a:endParaRPr>
          </a:p>
        </p:txBody>
      </p:sp>
      <p:sp>
        <p:nvSpPr>
          <p:cNvPr id="13" name="Rectangle 12"/>
          <p:cNvSpPr/>
          <p:nvPr/>
        </p:nvSpPr>
        <p:spPr>
          <a:xfrm>
            <a:off x="228600" y="990600"/>
            <a:ext cx="8610600" cy="5170646"/>
          </a:xfrm>
          <a:prstGeom prst="rect">
            <a:avLst/>
          </a:prstGeom>
        </p:spPr>
        <p:txBody>
          <a:bodyPr wrap="square">
            <a:spAutoFit/>
          </a:bodyPr>
          <a:lstStyle/>
          <a:p>
            <a:pPr marL="342900" indent="-342900">
              <a:lnSpc>
                <a:spcPct val="150000"/>
              </a:lnSpc>
              <a:buFont typeface="Arial" panose="020B0604020202020204" pitchFamily="34" charset="0"/>
              <a:buChar char="•"/>
            </a:pPr>
            <a:r>
              <a:rPr lang="en-GB" sz="2200" b="1" dirty="0" smtClean="0"/>
              <a:t>Logistic Regression:</a:t>
            </a:r>
            <a:endParaRPr lang="en-GB" sz="2200" b="1" dirty="0"/>
          </a:p>
          <a:p>
            <a:pPr marL="800100" lvl="1" indent="-342900">
              <a:lnSpc>
                <a:spcPct val="150000"/>
              </a:lnSpc>
              <a:buFont typeface="Wingdings" panose="05000000000000000000" pitchFamily="2" charset="2"/>
              <a:buChar char="ü"/>
            </a:pPr>
            <a:r>
              <a:rPr lang="en-GB" sz="2200" dirty="0" smtClean="0"/>
              <a:t>Transforms data about </a:t>
            </a:r>
            <a:r>
              <a:rPr lang="en-GB" sz="2200" dirty="0"/>
              <a:t>the binary dependent variable into </a:t>
            </a:r>
            <a:r>
              <a:rPr lang="en-GB" sz="2200" dirty="0" smtClean="0"/>
              <a:t>an unbounded </a:t>
            </a:r>
            <a:r>
              <a:rPr lang="en-GB" sz="2200" dirty="0"/>
              <a:t>continuous variable and estimates a regular </a:t>
            </a:r>
            <a:r>
              <a:rPr lang="en-GB" sz="2200" dirty="0" smtClean="0"/>
              <a:t>model</a:t>
            </a:r>
          </a:p>
          <a:p>
            <a:pPr marL="800100" lvl="1" indent="-342900">
              <a:lnSpc>
                <a:spcPct val="150000"/>
              </a:lnSpc>
              <a:buFont typeface="Wingdings" panose="05000000000000000000" pitchFamily="2" charset="2"/>
              <a:buChar char="ü"/>
            </a:pPr>
            <a:r>
              <a:rPr lang="en-GB" sz="2200" dirty="0" smtClean="0"/>
              <a:t>Tests </a:t>
            </a:r>
            <a:r>
              <a:rPr lang="en-GB" sz="2200" dirty="0"/>
              <a:t>the </a:t>
            </a:r>
            <a:r>
              <a:rPr lang="en-GB" sz="2200" b="1" dirty="0"/>
              <a:t>statistical significance </a:t>
            </a:r>
            <a:r>
              <a:rPr lang="en-GB" sz="2200" dirty="0"/>
              <a:t>of each </a:t>
            </a:r>
            <a:r>
              <a:rPr lang="en-GB" sz="2200" dirty="0" smtClean="0"/>
              <a:t>coefficient. </a:t>
            </a:r>
            <a:endParaRPr lang="en-GB" sz="2200" b="1" dirty="0" smtClean="0"/>
          </a:p>
          <a:p>
            <a:pPr marL="342900" indent="-342900">
              <a:lnSpc>
                <a:spcPct val="150000"/>
              </a:lnSpc>
              <a:buFont typeface="Arial" panose="020B0604020202020204" pitchFamily="34" charset="0"/>
              <a:buChar char="•"/>
            </a:pPr>
            <a:r>
              <a:rPr lang="en-GB" sz="2200" b="1" dirty="0" smtClean="0"/>
              <a:t>Why Decision Tree is used:</a:t>
            </a:r>
            <a:r>
              <a:rPr lang="en-GB" sz="2200" dirty="0" smtClean="0"/>
              <a:t> </a:t>
            </a:r>
          </a:p>
          <a:p>
            <a:pPr marL="800100" lvl="1" indent="-342900">
              <a:lnSpc>
                <a:spcPct val="150000"/>
              </a:lnSpc>
              <a:buFont typeface="Wingdings" panose="05000000000000000000" pitchFamily="2" charset="2"/>
              <a:buChar char="ü"/>
            </a:pPr>
            <a:r>
              <a:rPr lang="en-GB" sz="2200" dirty="0" smtClean="0"/>
              <a:t>Tree </a:t>
            </a:r>
            <a:r>
              <a:rPr lang="en-GB" sz="2200" dirty="0"/>
              <a:t>structure to represent a number of </a:t>
            </a:r>
            <a:r>
              <a:rPr lang="en-GB" sz="2200" dirty="0" smtClean="0"/>
              <a:t>possible decision </a:t>
            </a:r>
            <a:r>
              <a:rPr lang="en-GB" sz="2200" dirty="0"/>
              <a:t>paths and an outcome for each </a:t>
            </a:r>
            <a:r>
              <a:rPr lang="en-GB" sz="2200" dirty="0" smtClean="0"/>
              <a:t>path.</a:t>
            </a:r>
          </a:p>
          <a:p>
            <a:pPr marL="1714500" lvl="3" indent="-342900">
              <a:lnSpc>
                <a:spcPct val="150000"/>
              </a:lnSpc>
              <a:buFont typeface="Wingdings" panose="05000000000000000000" pitchFamily="2" charset="2"/>
              <a:buChar char="ü"/>
            </a:pPr>
            <a:r>
              <a:rPr lang="en-GB" sz="2200" b="1" dirty="0" smtClean="0"/>
              <a:t>Handles </a:t>
            </a:r>
            <a:r>
              <a:rPr lang="en-GB" sz="2200" b="1" dirty="0"/>
              <a:t>both </a:t>
            </a:r>
            <a:r>
              <a:rPr lang="en-GB" sz="2200" dirty="0"/>
              <a:t>categorical </a:t>
            </a:r>
            <a:r>
              <a:rPr lang="en-GB" sz="2200" dirty="0" smtClean="0"/>
              <a:t>and numerical </a:t>
            </a:r>
            <a:r>
              <a:rPr lang="en-GB" sz="2200" dirty="0"/>
              <a:t>data, and graphically allow you to interpret the data</a:t>
            </a:r>
            <a:r>
              <a:rPr lang="en-GB" sz="2200" dirty="0" smtClean="0"/>
              <a:t>.</a:t>
            </a:r>
          </a:p>
          <a:p>
            <a:pPr marL="1714500" lvl="3" indent="-342900">
              <a:lnSpc>
                <a:spcPct val="150000"/>
              </a:lnSpc>
              <a:buFont typeface="Wingdings" panose="05000000000000000000" pitchFamily="2" charset="2"/>
              <a:buChar char="ü"/>
            </a:pPr>
            <a:endParaRPr lang="en-GB" sz="2200" dirty="0" smtClean="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76600" y="5791200"/>
            <a:ext cx="2895600" cy="609600"/>
          </a:xfrm>
          <a:prstGeom prst="rect">
            <a:avLst/>
          </a:prstGeom>
        </p:spPr>
      </p:pic>
    </p:spTree>
    <p:extLst>
      <p:ext uri="{BB962C8B-B14F-4D97-AF65-F5344CB8AC3E}">
        <p14:creationId xmlns:p14="http://schemas.microsoft.com/office/powerpoint/2010/main" val="2063298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 y="990600"/>
            <a:ext cx="8763000" cy="2133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Footer Placeholder 3"/>
          <p:cNvSpPr>
            <a:spLocks noGrp="1"/>
          </p:cNvSpPr>
          <p:nvPr>
            <p:ph type="ftr" sz="quarter" idx="11"/>
          </p:nvPr>
        </p:nvSpPr>
        <p:spPr/>
        <p:txBody>
          <a:bodyPr/>
          <a:lstStyle/>
          <a:p>
            <a:r>
              <a:rPr lang="en-GB" smtClean="0"/>
              <a:t>M.Tech(CSE) Major Project</a:t>
            </a:r>
            <a:endParaRPr lang="en-GB"/>
          </a:p>
        </p:txBody>
      </p:sp>
      <p:sp>
        <p:nvSpPr>
          <p:cNvPr id="5" name="Slide Number Placeholder 4"/>
          <p:cNvSpPr>
            <a:spLocks noGrp="1"/>
          </p:cNvSpPr>
          <p:nvPr>
            <p:ph type="sldNum" sz="quarter" idx="12"/>
          </p:nvPr>
        </p:nvSpPr>
        <p:spPr/>
        <p:txBody>
          <a:bodyPr/>
          <a:lstStyle/>
          <a:p>
            <a:fld id="{3C34788B-A328-40B4-96DA-57139D3AAE30}" type="slidenum">
              <a:rPr lang="en-GB" smtClean="0"/>
              <a:t>11</a:t>
            </a:fld>
            <a:endParaRPr lang="en-GB"/>
          </a:p>
        </p:txBody>
      </p:sp>
      <p:sp>
        <p:nvSpPr>
          <p:cNvPr id="7" name="Title 1"/>
          <p:cNvSpPr txBox="1">
            <a:spLocks/>
          </p:cNvSpPr>
          <p:nvPr/>
        </p:nvSpPr>
        <p:spPr>
          <a:xfrm>
            <a:off x="2438400" y="114300"/>
            <a:ext cx="4267200" cy="1143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3200" dirty="0" smtClean="0">
                <a:latin typeface="Algerian" panose="04020705040A02060702" pitchFamily="82" charset="0"/>
              </a:rPr>
              <a:t>screenshots</a:t>
            </a:r>
            <a:endParaRPr lang="en-GB" sz="2800" dirty="0">
              <a:latin typeface="Algerian" panose="04020705040A02060702" pitchFamily="82" charset="0"/>
            </a:endParaRPr>
          </a:p>
        </p:txBody>
      </p:sp>
      <p:sp>
        <p:nvSpPr>
          <p:cNvPr id="9" name="Rectangle 8"/>
          <p:cNvSpPr/>
          <p:nvPr/>
        </p:nvSpPr>
        <p:spPr>
          <a:xfrm>
            <a:off x="228600" y="3200400"/>
            <a:ext cx="8686800" cy="3323987"/>
          </a:xfrm>
          <a:prstGeom prst="rect">
            <a:avLst/>
          </a:prstGeom>
        </p:spPr>
        <p:txBody>
          <a:bodyPr wrap="square">
            <a:spAutoFit/>
          </a:bodyPr>
          <a:lstStyle/>
          <a:p>
            <a:pPr lvl="0" algn="ctr">
              <a:lnSpc>
                <a:spcPct val="150000"/>
              </a:lnSpc>
            </a:pPr>
            <a:r>
              <a:rPr lang="en-US" sz="2000" b="1" i="1" dirty="0" smtClean="0">
                <a:latin typeface="Times New Roman" panose="02020603050405020304" pitchFamily="18" charset="0"/>
                <a:cs typeface="Times New Roman" panose="02020603050405020304" pitchFamily="18" charset="0"/>
              </a:rPr>
              <a:t>Figure 1: Dataset for the model</a:t>
            </a:r>
            <a:endParaRPr lang="en-GB" sz="2000" b="1" i="1" dirty="0" smtClean="0">
              <a:latin typeface="Times New Roman" panose="02020603050405020304" pitchFamily="18" charset="0"/>
              <a:cs typeface="Times New Roman" panose="02020603050405020304" pitchFamily="18" charset="0"/>
            </a:endParaRPr>
          </a:p>
          <a:p>
            <a:pPr lvl="0" algn="ctr">
              <a:lnSpc>
                <a:spcPct val="150000"/>
              </a:lnSpc>
            </a:pPr>
            <a:r>
              <a:rPr lang="en-GB" sz="2000" dirty="0" smtClean="0">
                <a:latin typeface="Times New Roman" panose="02020603050405020304" pitchFamily="18" charset="0"/>
                <a:cs typeface="Times New Roman" panose="02020603050405020304" pitchFamily="18" charset="0"/>
              </a:rPr>
              <a:t>The </a:t>
            </a:r>
            <a:r>
              <a:rPr lang="en-GB" sz="2000" dirty="0">
                <a:latin typeface="Times New Roman" panose="02020603050405020304" pitchFamily="18" charset="0"/>
                <a:cs typeface="Times New Roman" panose="02020603050405020304" pitchFamily="18" charset="0"/>
              </a:rPr>
              <a:t>dataset has </a:t>
            </a:r>
            <a:r>
              <a:rPr lang="en-GB" sz="2000" b="1" dirty="0">
                <a:latin typeface="Times New Roman" panose="02020603050405020304" pitchFamily="18" charset="0"/>
                <a:cs typeface="Times New Roman" panose="02020603050405020304" pitchFamily="18" charset="0"/>
              </a:rPr>
              <a:t>14249 observations </a:t>
            </a:r>
            <a:r>
              <a:rPr lang="en-GB" sz="2000" dirty="0">
                <a:latin typeface="Times New Roman" panose="02020603050405020304" pitchFamily="18" charset="0"/>
                <a:cs typeface="Times New Roman" panose="02020603050405020304" pitchFamily="18" charset="0"/>
              </a:rPr>
              <a:t>for past/present employees.</a:t>
            </a:r>
          </a:p>
          <a:p>
            <a:pPr lvl="0" algn="ctr">
              <a:lnSpc>
                <a:spcPct val="150000"/>
              </a:lnSpc>
            </a:pPr>
            <a:r>
              <a:rPr lang="en-GB" sz="2000" dirty="0">
                <a:latin typeface="Times New Roman" panose="02020603050405020304" pitchFamily="18" charset="0"/>
                <a:cs typeface="Times New Roman" panose="02020603050405020304" pitchFamily="18" charset="0"/>
              </a:rPr>
              <a:t>The observations span 12 different departments.</a:t>
            </a:r>
          </a:p>
          <a:p>
            <a:pPr lvl="0" algn="ctr">
              <a:lnSpc>
                <a:spcPct val="150000"/>
              </a:lnSpc>
            </a:pPr>
            <a:r>
              <a:rPr lang="en-GB" sz="2000" dirty="0">
                <a:latin typeface="Times New Roman" panose="02020603050405020304" pitchFamily="18" charset="0"/>
                <a:cs typeface="Times New Roman" panose="02020603050405020304" pitchFamily="18" charset="0"/>
              </a:rPr>
              <a:t>Each observation includes the </a:t>
            </a:r>
            <a:r>
              <a:rPr lang="en-GB" sz="2000" b="1" dirty="0">
                <a:latin typeface="Times New Roman" panose="02020603050405020304" pitchFamily="18" charset="0"/>
                <a:cs typeface="Times New Roman" panose="02020603050405020304" pitchFamily="18" charset="0"/>
              </a:rPr>
              <a:t>employee’s current employment status.</a:t>
            </a:r>
          </a:p>
          <a:p>
            <a:pPr algn="ctr">
              <a:lnSpc>
                <a:spcPct val="150000"/>
              </a:lnSpc>
            </a:pPr>
            <a:r>
              <a:rPr lang="en-GB" sz="2000" i="1" dirty="0">
                <a:latin typeface="Times New Roman" panose="02020603050405020304" pitchFamily="18" charset="0"/>
                <a:cs typeface="Times New Roman" panose="02020603050405020304" pitchFamily="18" charset="0"/>
              </a:rPr>
              <a:t>Target variable: </a:t>
            </a:r>
            <a:r>
              <a:rPr lang="en-GB" sz="2000" dirty="0">
                <a:latin typeface="Times New Roman" panose="02020603050405020304" pitchFamily="18" charset="0"/>
                <a:cs typeface="Times New Roman" panose="02020603050405020304" pitchFamily="18" charset="0"/>
              </a:rPr>
              <a:t>'status' – Current employment status (Employed / Left</a:t>
            </a:r>
            <a:r>
              <a:rPr lang="en-GB" sz="2000" dirty="0" smtClean="0">
                <a:latin typeface="Times New Roman" panose="02020603050405020304" pitchFamily="18" charset="0"/>
                <a:cs typeface="Times New Roman" panose="02020603050405020304" pitchFamily="18" charset="0"/>
              </a:rPr>
              <a:t>)</a:t>
            </a:r>
          </a:p>
          <a:p>
            <a:pPr lvl="0" algn="ctr">
              <a:lnSpc>
                <a:spcPct val="150000"/>
              </a:lnSpc>
            </a:pPr>
            <a:r>
              <a:rPr lang="en-GB" sz="2000" i="1" dirty="0"/>
              <a:t>'tenure' </a:t>
            </a:r>
            <a:r>
              <a:rPr lang="en-GB" sz="2000" dirty="0"/>
              <a:t>– Number of years at the company</a:t>
            </a:r>
          </a:p>
          <a:p>
            <a:pPr algn="ctr">
              <a:lnSpc>
                <a:spcPct val="150000"/>
              </a:lnSpc>
            </a:pPr>
            <a:endParaRPr lang="en-GB" sz="2000" dirty="0" smtClean="0">
              <a:latin typeface="Times New Roman" panose="02020603050405020304" pitchFamily="18" charset="0"/>
              <a:cs typeface="Times New Roman" panose="02020603050405020304" pitchFamily="18" charset="0"/>
            </a:endParaRPr>
          </a:p>
        </p:txBody>
      </p:sp>
      <p:pic>
        <p:nvPicPr>
          <p:cNvPr id="10" name="Content Placeholder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4636"/>
            <a:ext cx="9144000" cy="68926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2" name="Title 1"/>
          <p:cNvSpPr>
            <a:spLocks noGrp="1"/>
          </p:cNvSpPr>
          <p:nvPr>
            <p:ph type="title"/>
          </p:nvPr>
        </p:nvSpPr>
        <p:spPr>
          <a:xfrm>
            <a:off x="0" y="0"/>
            <a:ext cx="9144000" cy="1143000"/>
          </a:xfrm>
        </p:spPr>
        <p:txBody>
          <a:bodyPr>
            <a:normAutofit/>
          </a:bodyPr>
          <a:lstStyle/>
          <a:p>
            <a:r>
              <a:rPr lang="en-US" sz="3600" dirty="0">
                <a:latin typeface="Algerian" panose="04020705040A02060702" pitchFamily="82" charset="0"/>
              </a:rPr>
              <a:t>Algorithms</a:t>
            </a:r>
            <a:endParaRPr lang="en-GB" sz="4000" dirty="0">
              <a:latin typeface="Algerian" panose="04020705040A02060702" pitchFamily="82" charset="0"/>
            </a:endParaRPr>
          </a:p>
        </p:txBody>
      </p:sp>
      <p:sp>
        <p:nvSpPr>
          <p:cNvPr id="13" name="Rectangle 12"/>
          <p:cNvSpPr/>
          <p:nvPr/>
        </p:nvSpPr>
        <p:spPr>
          <a:xfrm>
            <a:off x="332509" y="910997"/>
            <a:ext cx="8610600" cy="6017032"/>
          </a:xfrm>
          <a:prstGeom prst="rect">
            <a:avLst/>
          </a:prstGeom>
        </p:spPr>
        <p:txBody>
          <a:bodyPr wrap="square">
            <a:spAutoFit/>
          </a:bodyPr>
          <a:lstStyle/>
          <a:p>
            <a:pPr marL="342900" indent="-342900">
              <a:lnSpc>
                <a:spcPct val="150000"/>
              </a:lnSpc>
              <a:buFont typeface="Arial" panose="020B0604020202020204" pitchFamily="34" charset="0"/>
              <a:buChar char="•"/>
            </a:pPr>
            <a:r>
              <a:rPr lang="en-GB" sz="2200" b="1" dirty="0" smtClean="0"/>
              <a:t>Random Forest:</a:t>
            </a:r>
            <a:endParaRPr lang="en-GB" sz="2200" b="1" dirty="0"/>
          </a:p>
          <a:p>
            <a:pPr marL="800100" lvl="1" indent="-342900">
              <a:lnSpc>
                <a:spcPct val="150000"/>
              </a:lnSpc>
              <a:buFont typeface="Wingdings" panose="05000000000000000000" pitchFamily="2" charset="2"/>
              <a:buChar char="ü"/>
            </a:pPr>
            <a:r>
              <a:rPr lang="en-GB" sz="2200" dirty="0"/>
              <a:t>One way of avoiding </a:t>
            </a:r>
            <a:r>
              <a:rPr lang="en-GB" sz="2200" b="1" dirty="0" smtClean="0"/>
              <a:t>overfitting</a:t>
            </a:r>
            <a:r>
              <a:rPr lang="en-GB" sz="2200" dirty="0" smtClean="0"/>
              <a:t> </a:t>
            </a:r>
            <a:r>
              <a:rPr lang="en-GB" sz="2200" dirty="0"/>
              <a:t>that Decision Trees are prone to, is to apply a </a:t>
            </a:r>
            <a:r>
              <a:rPr lang="en-GB" sz="2200" dirty="0" smtClean="0"/>
              <a:t>technique called.</a:t>
            </a:r>
          </a:p>
          <a:p>
            <a:pPr marL="800100" lvl="1" indent="-342900">
              <a:lnSpc>
                <a:spcPct val="150000"/>
              </a:lnSpc>
              <a:buFont typeface="Wingdings" panose="05000000000000000000" pitchFamily="2" charset="2"/>
              <a:buChar char="ü"/>
            </a:pPr>
            <a:r>
              <a:rPr lang="en-GB" sz="2200" dirty="0" smtClean="0"/>
              <a:t>Built </a:t>
            </a:r>
            <a:r>
              <a:rPr lang="en-GB" sz="2200" dirty="0"/>
              <a:t>multiple decision trees and let them vote on </a:t>
            </a:r>
            <a:r>
              <a:rPr lang="en-GB" sz="2200" dirty="0" smtClean="0"/>
              <a:t>how to classify their inputs</a:t>
            </a:r>
            <a:r>
              <a:rPr lang="en-GB" sz="2200" dirty="0"/>
              <a:t> </a:t>
            </a:r>
            <a:r>
              <a:rPr lang="en-GB" sz="2200" dirty="0" smtClean="0"/>
              <a:t>which is an ensemble  technique</a:t>
            </a:r>
          </a:p>
          <a:p>
            <a:pPr marL="342900" indent="-342900">
              <a:buFont typeface="Arial" panose="020B0604020202020204" pitchFamily="34" charset="0"/>
              <a:buChar char="•"/>
            </a:pPr>
            <a:r>
              <a:rPr lang="en-GB" sz="2200" b="1" dirty="0" smtClean="0"/>
              <a:t>Why </a:t>
            </a:r>
            <a:r>
              <a:rPr lang="en-GB" sz="2200" b="1" dirty="0"/>
              <a:t>k-Nearest </a:t>
            </a:r>
            <a:r>
              <a:rPr lang="en-GB" sz="2200" b="1" dirty="0" smtClean="0"/>
              <a:t>Neighbours is </a:t>
            </a:r>
            <a:r>
              <a:rPr lang="en-GB" sz="2200" b="1" dirty="0"/>
              <a:t>used:</a:t>
            </a:r>
            <a:r>
              <a:rPr lang="en-GB" sz="2200" dirty="0"/>
              <a:t> </a:t>
            </a:r>
            <a:endParaRPr lang="en-GB" sz="2200" dirty="0" smtClean="0"/>
          </a:p>
          <a:p>
            <a:pPr marL="742950" lvl="1" indent="-285750">
              <a:lnSpc>
                <a:spcPct val="150000"/>
              </a:lnSpc>
              <a:buFont typeface="Wingdings" panose="05000000000000000000" pitchFamily="2" charset="2"/>
              <a:buChar char="ü"/>
            </a:pPr>
            <a:r>
              <a:rPr lang="en-GB" sz="2200" dirty="0"/>
              <a:t>B</a:t>
            </a:r>
            <a:r>
              <a:rPr lang="en-GB" sz="2200" dirty="0" smtClean="0"/>
              <a:t>ased </a:t>
            </a:r>
            <a:r>
              <a:rPr lang="en-GB" sz="2200" dirty="0"/>
              <a:t>on mainly two ideas: the notion of </a:t>
            </a:r>
            <a:r>
              <a:rPr lang="en-GB" sz="2200" dirty="0" smtClean="0"/>
              <a:t>a distance </a:t>
            </a:r>
            <a:r>
              <a:rPr lang="en-GB" sz="2200" dirty="0"/>
              <a:t>metric and that points that are close to one another are </a:t>
            </a:r>
            <a:r>
              <a:rPr lang="en-GB" sz="2200" dirty="0" smtClean="0"/>
              <a:t>similar.</a:t>
            </a:r>
          </a:p>
          <a:p>
            <a:pPr marL="742950" lvl="1" indent="-285750">
              <a:lnSpc>
                <a:spcPct val="150000"/>
              </a:lnSpc>
              <a:buFont typeface="Wingdings" panose="05000000000000000000" pitchFamily="2" charset="2"/>
              <a:buChar char="ü"/>
            </a:pPr>
            <a:r>
              <a:rPr lang="en-GB" sz="2200" dirty="0" smtClean="0"/>
              <a:t>Result </a:t>
            </a:r>
            <a:r>
              <a:rPr lang="en-GB" sz="2200" dirty="0"/>
              <a:t>of </a:t>
            </a:r>
            <a:r>
              <a:rPr lang="en-GB" sz="2200" b="1" dirty="0"/>
              <a:t>majority </a:t>
            </a:r>
            <a:r>
              <a:rPr lang="en-GB" sz="2200" b="1" dirty="0" smtClean="0"/>
              <a:t>voting</a:t>
            </a:r>
          </a:p>
          <a:p>
            <a:pPr marL="1657350" lvl="3" indent="-285750">
              <a:lnSpc>
                <a:spcPct val="150000"/>
              </a:lnSpc>
              <a:buFont typeface="Wingdings" panose="05000000000000000000" pitchFamily="2" charset="2"/>
              <a:buChar char="ü"/>
            </a:pPr>
            <a:r>
              <a:rPr lang="en-GB" sz="2200" dirty="0" smtClean="0"/>
              <a:t>Use a Euclidean </a:t>
            </a:r>
            <a:r>
              <a:rPr lang="en-GB" sz="2200" dirty="0"/>
              <a:t>distance metric</a:t>
            </a:r>
            <a:r>
              <a:rPr lang="en-GB" sz="2200" dirty="0" smtClean="0"/>
              <a:t>.</a:t>
            </a:r>
          </a:p>
          <a:p>
            <a:pPr lvl="3">
              <a:lnSpc>
                <a:spcPct val="150000"/>
              </a:lnSpc>
            </a:pPr>
            <a:endParaRPr lang="en-GB" sz="2200" dirty="0" smtClean="0"/>
          </a:p>
          <a:p>
            <a:pPr marL="1657350" lvl="3" indent="-285750">
              <a:lnSpc>
                <a:spcPct val="150000"/>
              </a:lnSpc>
              <a:buFont typeface="Wingdings" panose="05000000000000000000" pitchFamily="2" charset="2"/>
              <a:buChar char="ü"/>
            </a:pPr>
            <a:endParaRPr lang="en-GB" sz="2200" dirty="0"/>
          </a:p>
        </p:txBody>
      </p:sp>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71800" y="5861869"/>
            <a:ext cx="3429000" cy="843731"/>
          </a:xfrm>
          <a:prstGeom prst="rect">
            <a:avLst/>
          </a:prstGeom>
        </p:spPr>
      </p:pic>
    </p:spTree>
    <p:extLst>
      <p:ext uri="{BB962C8B-B14F-4D97-AF65-F5344CB8AC3E}">
        <p14:creationId xmlns:p14="http://schemas.microsoft.com/office/powerpoint/2010/main" val="2063298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GB" smtClean="0"/>
              <a:t>M.Tech(CSE) Major Project</a:t>
            </a:r>
            <a:endParaRPr lang="en-GB"/>
          </a:p>
        </p:txBody>
      </p:sp>
      <p:sp>
        <p:nvSpPr>
          <p:cNvPr id="5" name="Slide Number Placeholder 4"/>
          <p:cNvSpPr>
            <a:spLocks noGrp="1"/>
          </p:cNvSpPr>
          <p:nvPr>
            <p:ph type="sldNum" sz="quarter" idx="12"/>
          </p:nvPr>
        </p:nvSpPr>
        <p:spPr/>
        <p:txBody>
          <a:bodyPr/>
          <a:lstStyle/>
          <a:p>
            <a:fld id="{3C34788B-A328-40B4-96DA-57139D3AAE30}" type="slidenum">
              <a:rPr lang="en-GB" smtClean="0"/>
              <a:t>12</a:t>
            </a:fld>
            <a:endParaRPr lang="en-GB"/>
          </a:p>
        </p:txBody>
      </p:sp>
      <p:sp>
        <p:nvSpPr>
          <p:cNvPr id="7" name="Title 1"/>
          <p:cNvSpPr txBox="1">
            <a:spLocks/>
          </p:cNvSpPr>
          <p:nvPr/>
        </p:nvSpPr>
        <p:spPr>
          <a:xfrm>
            <a:off x="0" y="-76200"/>
            <a:ext cx="91440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smtClean="0">
                <a:latin typeface="Algerian" panose="04020705040A02060702" pitchFamily="82" charset="0"/>
              </a:rPr>
              <a:t>dataset</a:t>
            </a:r>
            <a:endParaRPr lang="en-GB" sz="4000" dirty="0">
              <a:latin typeface="Algerian" panose="04020705040A02060702" pitchFamily="82" charset="0"/>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990600"/>
            <a:ext cx="8534400" cy="1676400"/>
          </a:xfrm>
          <a:prstGeom prst="rect">
            <a:avLst/>
          </a:prstGeom>
        </p:spPr>
      </p:pic>
      <p:pic>
        <p:nvPicPr>
          <p:cNvPr id="10" name="Content Placeholder 9"/>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57200" y="2895600"/>
            <a:ext cx="8229600" cy="2667000"/>
          </a:xfrm>
        </p:spPr>
      </p:pic>
      <p:sp>
        <p:nvSpPr>
          <p:cNvPr id="11" name="Title 1"/>
          <p:cNvSpPr txBox="1">
            <a:spLocks/>
          </p:cNvSpPr>
          <p:nvPr/>
        </p:nvSpPr>
        <p:spPr>
          <a:xfrm>
            <a:off x="0" y="5181600"/>
            <a:ext cx="9144000" cy="1524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dirty="0" smtClean="0">
                <a:latin typeface="Times New Roman" panose="02020603050405020304" pitchFamily="18" charset="0"/>
                <a:cs typeface="Times New Roman" panose="02020603050405020304" pitchFamily="18" charset="0"/>
              </a:rPr>
              <a:t>First figure shows the columns\fields in dataset and next shows in detail values. Total records :1429 and 10 columns</a:t>
            </a:r>
            <a:endParaRPr lang="en-GB"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7492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0" y="0"/>
            <a:ext cx="9144000" cy="1143000"/>
          </a:xfrm>
        </p:spPr>
        <p:txBody>
          <a:bodyPr>
            <a:normAutofit/>
          </a:bodyPr>
          <a:lstStyle/>
          <a:p>
            <a:r>
              <a:rPr lang="en-US" sz="3600" dirty="0" smtClean="0">
                <a:latin typeface="Algerian" panose="04020705040A02060702" pitchFamily="82" charset="0"/>
              </a:rPr>
              <a:t>Screenshots</a:t>
            </a:r>
            <a:endParaRPr lang="en-GB" sz="4000" dirty="0">
              <a:latin typeface="Algerian" panose="04020705040A02060702" pitchFamily="82"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 y="1600200"/>
            <a:ext cx="4953000" cy="1905000"/>
          </a:xfrm>
        </p:spPr>
      </p:pic>
      <p:sp>
        <p:nvSpPr>
          <p:cNvPr id="10" name="Title 1"/>
          <p:cNvSpPr txBox="1">
            <a:spLocks/>
          </p:cNvSpPr>
          <p:nvPr/>
        </p:nvSpPr>
        <p:spPr>
          <a:xfrm>
            <a:off x="0" y="3962400"/>
            <a:ext cx="9144000" cy="2743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dirty="0" smtClean="0">
                <a:latin typeface="Times New Roman" panose="02020603050405020304" pitchFamily="18" charset="0"/>
                <a:cs typeface="Times New Roman" panose="02020603050405020304" pitchFamily="18" charset="0"/>
              </a:rPr>
              <a:t>First figure shows the Performance of the Random forest model and the second shows Accuracy </a:t>
            </a:r>
            <a:r>
              <a:rPr lang="en-US" sz="2800" dirty="0" smtClean="0">
                <a:latin typeface="Times New Roman" panose="02020603050405020304" pitchFamily="18" charset="0"/>
                <a:cs typeface="Times New Roman" panose="02020603050405020304" pitchFamily="18" charset="0"/>
              </a:rPr>
              <a:t>of different machine learning algorithm and highest accuracy is achieved by </a:t>
            </a:r>
            <a:r>
              <a:rPr lang="en-US" sz="2800" b="1" dirty="0" smtClean="0">
                <a:latin typeface="Times New Roman" panose="02020603050405020304" pitchFamily="18" charset="0"/>
                <a:cs typeface="Times New Roman" panose="02020603050405020304" pitchFamily="18" charset="0"/>
              </a:rPr>
              <a:t>Random Forest</a:t>
            </a:r>
            <a:r>
              <a:rPr lang="en-US" sz="2800" dirty="0" smtClean="0">
                <a:latin typeface="Times New Roman" panose="02020603050405020304" pitchFamily="18" charset="0"/>
                <a:cs typeface="Times New Roman" panose="02020603050405020304" pitchFamily="18" charset="0"/>
              </a:rPr>
              <a:t> as it can handle large files and has embedded feature selection </a:t>
            </a:r>
            <a:r>
              <a:rPr lang="en-US" sz="2800" dirty="0" smtClean="0">
                <a:latin typeface="Times New Roman" panose="02020603050405020304" pitchFamily="18" charset="0"/>
                <a:cs typeface="Times New Roman" panose="02020603050405020304" pitchFamily="18" charset="0"/>
              </a:rPr>
              <a:t>property.</a:t>
            </a:r>
            <a:endParaRPr lang="en-GB" sz="3600" dirty="0" smtClean="0">
              <a:latin typeface="Times New Roman" panose="02020603050405020304" pitchFamily="18" charset="0"/>
              <a:cs typeface="Times New Roman" panose="02020603050405020304" pitchFamily="18" charset="0"/>
            </a:endParaRPr>
          </a:p>
          <a:p>
            <a:endParaRPr lang="en-GB" sz="3200" dirty="0">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3C34788B-A328-40B4-96DA-57139D3AAE30}" type="slidenum">
              <a:rPr lang="en-GB" smtClean="0"/>
              <a:t>13</a:t>
            </a:fld>
            <a:endParaRPr lang="en-GB" dirty="0"/>
          </a:p>
        </p:txBody>
      </p:sp>
      <p:sp>
        <p:nvSpPr>
          <p:cNvPr id="5" name="Footer Placeholder 4"/>
          <p:cNvSpPr>
            <a:spLocks noGrp="1"/>
          </p:cNvSpPr>
          <p:nvPr>
            <p:ph type="ftr" sz="quarter" idx="11"/>
          </p:nvPr>
        </p:nvSpPr>
        <p:spPr/>
        <p:txBody>
          <a:bodyPr/>
          <a:lstStyle/>
          <a:p>
            <a:r>
              <a:rPr lang="en-GB" smtClean="0"/>
              <a:t>M.Tech(CSE) Major Project</a:t>
            </a:r>
            <a:endParaRPr lang="en-GB"/>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1600" y="1381124"/>
            <a:ext cx="3851823" cy="2352676"/>
          </a:xfrm>
          <a:prstGeom prst="rect">
            <a:avLst/>
          </a:prstGeom>
        </p:spPr>
      </p:pic>
    </p:spTree>
    <p:extLst>
      <p:ext uri="{BB962C8B-B14F-4D97-AF65-F5344CB8AC3E}">
        <p14:creationId xmlns:p14="http://schemas.microsoft.com/office/powerpoint/2010/main" val="3521524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Content Placeholder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4636"/>
            <a:ext cx="9144000" cy="68926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itle 1"/>
          <p:cNvSpPr txBox="1">
            <a:spLocks/>
          </p:cNvSpPr>
          <p:nvPr/>
        </p:nvSpPr>
        <p:spPr>
          <a:xfrm>
            <a:off x="0" y="-228600"/>
            <a:ext cx="91440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smtClean="0">
                <a:latin typeface="Algerian" panose="04020705040A02060702" pitchFamily="82" charset="0"/>
              </a:rPr>
              <a:t>Result &amp; discussions</a:t>
            </a:r>
            <a:endParaRPr lang="en-GB" sz="4000" dirty="0">
              <a:latin typeface="Algerian" panose="04020705040A02060702" pitchFamily="82" charset="0"/>
            </a:endParaRPr>
          </a:p>
        </p:txBody>
      </p:sp>
      <p:sp>
        <p:nvSpPr>
          <p:cNvPr id="6" name="Rectangle 5"/>
          <p:cNvSpPr/>
          <p:nvPr/>
        </p:nvSpPr>
        <p:spPr>
          <a:xfrm>
            <a:off x="0" y="762000"/>
            <a:ext cx="9005455" cy="4916731"/>
          </a:xfrm>
          <a:prstGeom prst="rect">
            <a:avLst/>
          </a:prstGeom>
        </p:spPr>
        <p:txBody>
          <a:bodyPr wrap="square">
            <a:spAutoFit/>
          </a:bodyPr>
          <a:lstStyle/>
          <a:p>
            <a:pPr algn="just">
              <a:lnSpc>
                <a:spcPct val="150000"/>
              </a:lnSpc>
            </a:pPr>
            <a:r>
              <a:rPr lang="en-GB" sz="1900" dirty="0" smtClean="0">
                <a:latin typeface="Times New Roman" panose="02020603050405020304" pitchFamily="18" charset="0"/>
                <a:cs typeface="Times New Roman" panose="02020603050405020304" pitchFamily="18" charset="0"/>
              </a:rPr>
              <a:t>Employees </a:t>
            </a:r>
            <a:r>
              <a:rPr lang="en-GB" sz="1900" dirty="0">
                <a:latin typeface="Times New Roman" panose="02020603050405020304" pitchFamily="18" charset="0"/>
                <a:cs typeface="Times New Roman" panose="02020603050405020304" pitchFamily="18" charset="0"/>
              </a:rPr>
              <a:t>are </a:t>
            </a:r>
            <a:r>
              <a:rPr lang="en-GB" sz="1900" b="1" dirty="0">
                <a:latin typeface="Times New Roman" panose="02020603050405020304" pitchFamily="18" charset="0"/>
                <a:cs typeface="Times New Roman" panose="02020603050405020304" pitchFamily="18" charset="0"/>
              </a:rPr>
              <a:t>dissatisfied</a:t>
            </a:r>
            <a:r>
              <a:rPr lang="en-GB" sz="1900" dirty="0">
                <a:latin typeface="Times New Roman" panose="02020603050405020304" pitchFamily="18" charset="0"/>
                <a:cs typeface="Times New Roman" panose="02020603050405020304" pitchFamily="18" charset="0"/>
              </a:rPr>
              <a:t> with the organization's recognition and performance </a:t>
            </a:r>
            <a:r>
              <a:rPr lang="en-GB" sz="1900" dirty="0" smtClean="0">
                <a:latin typeface="Times New Roman" panose="02020603050405020304" pitchFamily="18" charset="0"/>
                <a:cs typeface="Times New Roman" panose="02020603050405020304" pitchFamily="18" charset="0"/>
              </a:rPr>
              <a:t>appraisal. Employees </a:t>
            </a:r>
            <a:r>
              <a:rPr lang="en-GB" sz="1900" dirty="0">
                <a:latin typeface="Times New Roman" panose="02020603050405020304" pitchFamily="18" charset="0"/>
                <a:cs typeface="Times New Roman" panose="02020603050405020304" pitchFamily="18" charset="0"/>
              </a:rPr>
              <a:t>must be properly compensated in order for the company to retain them for a lengthy period of time. Employees are </a:t>
            </a:r>
            <a:r>
              <a:rPr lang="en-GB" sz="1900" b="1" dirty="0">
                <a:latin typeface="Times New Roman" panose="02020603050405020304" pitchFamily="18" charset="0"/>
                <a:cs typeface="Times New Roman" panose="02020603050405020304" pitchFamily="18" charset="0"/>
              </a:rPr>
              <a:t>feeling over-worked</a:t>
            </a:r>
            <a:r>
              <a:rPr lang="en-GB" sz="1900" dirty="0">
                <a:latin typeface="Times New Roman" panose="02020603050405020304" pitchFamily="18" charset="0"/>
                <a:cs typeface="Times New Roman" panose="02020603050405020304" pitchFamily="18" charset="0"/>
              </a:rPr>
              <a:t> as a result of the workload. </a:t>
            </a:r>
            <a:r>
              <a:rPr lang="en-GB" sz="1900" dirty="0" smtClean="0">
                <a:latin typeface="Times New Roman" panose="02020603050405020304" pitchFamily="18" charset="0"/>
                <a:cs typeface="Times New Roman" panose="02020603050405020304" pitchFamily="18" charset="0"/>
              </a:rPr>
              <a:t>Employees </a:t>
            </a:r>
            <a:r>
              <a:rPr lang="en-GB" sz="1900" dirty="0">
                <a:latin typeface="Times New Roman" panose="02020603050405020304" pitchFamily="18" charset="0"/>
                <a:cs typeface="Times New Roman" panose="02020603050405020304" pitchFamily="18" charset="0"/>
              </a:rPr>
              <a:t>and management must enhance their relationship. </a:t>
            </a:r>
            <a:r>
              <a:rPr lang="en-GB" sz="1900" b="1" dirty="0">
                <a:latin typeface="Times New Roman" panose="02020603050405020304" pitchFamily="18" charset="0"/>
                <a:cs typeface="Times New Roman" panose="02020603050405020304" pitchFamily="18" charset="0"/>
              </a:rPr>
              <a:t>Recognize and congratulate </a:t>
            </a:r>
            <a:r>
              <a:rPr lang="en-GB" sz="1900" dirty="0">
                <a:latin typeface="Times New Roman" panose="02020603050405020304" pitchFamily="18" charset="0"/>
                <a:cs typeface="Times New Roman" panose="02020603050405020304" pitchFamily="18" charset="0"/>
              </a:rPr>
              <a:t>them on their accomplishments. </a:t>
            </a:r>
            <a:r>
              <a:rPr lang="en-GB" sz="1900" dirty="0" smtClean="0">
                <a:latin typeface="Times New Roman" panose="02020603050405020304" pitchFamily="18" charset="0"/>
                <a:cs typeface="Times New Roman" panose="02020603050405020304" pitchFamily="18" charset="0"/>
              </a:rPr>
              <a:t>People </a:t>
            </a:r>
            <a:r>
              <a:rPr lang="en-GB" sz="1900" dirty="0">
                <a:latin typeface="Times New Roman" panose="02020603050405020304" pitchFamily="18" charset="0"/>
                <a:cs typeface="Times New Roman" panose="02020603050405020304" pitchFamily="18" charset="0"/>
              </a:rPr>
              <a:t>want to enjoy their work, therefore make it enjoyable for them. Recognize that employees need to balance their personal and professional lives, thus provide flexible start times and core hours. To encourage open communication, provide </a:t>
            </a:r>
            <a:r>
              <a:rPr lang="en-GB" sz="1900" b="1" dirty="0">
                <a:latin typeface="Times New Roman" panose="02020603050405020304" pitchFamily="18" charset="0"/>
                <a:cs typeface="Times New Roman" panose="02020603050405020304" pitchFamily="18" charset="0"/>
              </a:rPr>
              <a:t>360-degree feedback </a:t>
            </a:r>
            <a:r>
              <a:rPr lang="en-GB" sz="1900" dirty="0">
                <a:latin typeface="Times New Roman" panose="02020603050405020304" pitchFamily="18" charset="0"/>
                <a:cs typeface="Times New Roman" panose="02020603050405020304" pitchFamily="18" charset="0"/>
              </a:rPr>
              <a:t>surveys and other questionnaires. Allow </a:t>
            </a:r>
            <a:r>
              <a:rPr lang="en-GB" sz="1900" b="1" dirty="0">
                <a:latin typeface="Times New Roman" panose="02020603050405020304" pitchFamily="18" charset="0"/>
                <a:cs typeface="Times New Roman" panose="02020603050405020304" pitchFamily="18" charset="0"/>
              </a:rPr>
              <a:t>anonymous questionnaires </a:t>
            </a:r>
            <a:r>
              <a:rPr lang="en-GB" sz="1900" dirty="0">
                <a:latin typeface="Times New Roman" panose="02020603050405020304" pitchFamily="18" charset="0"/>
                <a:cs typeface="Times New Roman" panose="02020603050405020304" pitchFamily="18" charset="0"/>
              </a:rPr>
              <a:t>on occasion so that staff can be more open and honest about their thoughts. Provide opportunities for career advancement and </a:t>
            </a:r>
            <a:r>
              <a:rPr lang="en-GB" sz="1900" b="1" dirty="0">
                <a:latin typeface="Times New Roman" panose="02020603050405020304" pitchFamily="18" charset="0"/>
                <a:cs typeface="Times New Roman" panose="02020603050405020304" pitchFamily="18" charset="0"/>
              </a:rPr>
              <a:t>cross-training</a:t>
            </a:r>
            <a:r>
              <a:rPr lang="en-GB" sz="1900" dirty="0">
                <a:latin typeface="Times New Roman" panose="02020603050405020304" pitchFamily="18" charset="0"/>
                <a:cs typeface="Times New Roman" panose="02020603050405020304" pitchFamily="18" charset="0"/>
              </a:rPr>
              <a:t> inside the organization. </a:t>
            </a:r>
          </a:p>
        </p:txBody>
      </p:sp>
      <p:sp>
        <p:nvSpPr>
          <p:cNvPr id="7" name="Slide Number Placeholder 6"/>
          <p:cNvSpPr>
            <a:spLocks noGrp="1"/>
          </p:cNvSpPr>
          <p:nvPr>
            <p:ph type="sldNum" sz="quarter" idx="12"/>
          </p:nvPr>
        </p:nvSpPr>
        <p:spPr/>
        <p:txBody>
          <a:bodyPr/>
          <a:lstStyle/>
          <a:p>
            <a:fld id="{3C34788B-A328-40B4-96DA-57139D3AAE30}" type="slidenum">
              <a:rPr lang="en-GB" smtClean="0"/>
              <a:t>14</a:t>
            </a:fld>
            <a:endParaRPr lang="en-GB"/>
          </a:p>
        </p:txBody>
      </p:sp>
      <p:sp>
        <p:nvSpPr>
          <p:cNvPr id="8" name="Footer Placeholder 7"/>
          <p:cNvSpPr>
            <a:spLocks noGrp="1"/>
          </p:cNvSpPr>
          <p:nvPr>
            <p:ph type="ftr" sz="quarter" idx="11"/>
          </p:nvPr>
        </p:nvSpPr>
        <p:spPr/>
        <p:txBody>
          <a:bodyPr/>
          <a:lstStyle/>
          <a:p>
            <a:r>
              <a:rPr lang="en-GB" smtClean="0"/>
              <a:t>M.Tech(CSE) Major Project</a:t>
            </a:r>
            <a:endParaRPr lang="en-GB"/>
          </a:p>
        </p:txBody>
      </p:sp>
    </p:spTree>
    <p:extLst>
      <p:ext uri="{BB962C8B-B14F-4D97-AF65-F5344CB8AC3E}">
        <p14:creationId xmlns:p14="http://schemas.microsoft.com/office/powerpoint/2010/main" val="1666354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34636"/>
            <a:ext cx="9144000" cy="68926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Title 1"/>
          <p:cNvSpPr>
            <a:spLocks noGrp="1"/>
          </p:cNvSpPr>
          <p:nvPr>
            <p:ph type="title"/>
          </p:nvPr>
        </p:nvSpPr>
        <p:spPr>
          <a:xfrm>
            <a:off x="0" y="-152400"/>
            <a:ext cx="9144000" cy="1143000"/>
          </a:xfrm>
        </p:spPr>
        <p:txBody>
          <a:bodyPr>
            <a:normAutofit/>
          </a:bodyPr>
          <a:lstStyle/>
          <a:p>
            <a:r>
              <a:rPr lang="en-US" sz="3600" dirty="0" smtClean="0">
                <a:latin typeface="Algerian" panose="04020705040A02060702" pitchFamily="82" charset="0"/>
              </a:rPr>
              <a:t>conclusion</a:t>
            </a:r>
            <a:endParaRPr lang="en-GB" sz="4000" dirty="0">
              <a:latin typeface="Algerian" panose="04020705040A02060702" pitchFamily="82" charset="0"/>
            </a:endParaRPr>
          </a:p>
        </p:txBody>
      </p:sp>
      <p:sp>
        <p:nvSpPr>
          <p:cNvPr id="5" name="Rectangle 4"/>
          <p:cNvSpPr/>
          <p:nvPr/>
        </p:nvSpPr>
        <p:spPr>
          <a:xfrm>
            <a:off x="228600" y="990600"/>
            <a:ext cx="8763000" cy="4653646"/>
          </a:xfrm>
          <a:prstGeom prst="rect">
            <a:avLst/>
          </a:prstGeom>
        </p:spPr>
        <p:txBody>
          <a:bodyPr wrap="square">
            <a:spAutoFit/>
          </a:bodyPr>
          <a:lstStyle/>
          <a:p>
            <a:pPr algn="just">
              <a:lnSpc>
                <a:spcPct val="150000"/>
              </a:lnSpc>
            </a:pPr>
            <a:r>
              <a:rPr lang="en-GB" sz="2000" dirty="0" smtClean="0">
                <a:latin typeface="Times New Roman" panose="02020603050405020304" pitchFamily="18" charset="0"/>
                <a:cs typeface="Times New Roman" panose="02020603050405020304" pitchFamily="18" charset="0"/>
              </a:rPr>
              <a:t>It </a:t>
            </a:r>
            <a:r>
              <a:rPr lang="en-GB" sz="2000" dirty="0">
                <a:latin typeface="Times New Roman" panose="02020603050405020304" pitchFamily="18" charset="0"/>
                <a:cs typeface="Times New Roman" panose="02020603050405020304" pitchFamily="18" charset="0"/>
              </a:rPr>
              <a:t>is evident that industries cannot survive in the long run if they do not possess </a:t>
            </a:r>
            <a:r>
              <a:rPr lang="en-GB" sz="2000" b="1" dirty="0">
                <a:latin typeface="Times New Roman" panose="02020603050405020304" pitchFamily="18" charset="0"/>
                <a:cs typeface="Times New Roman" panose="02020603050405020304" pitchFamily="18" charset="0"/>
              </a:rPr>
              <a:t>predictive analytics </a:t>
            </a:r>
            <a:r>
              <a:rPr lang="en-GB" sz="2000" dirty="0">
                <a:latin typeface="Times New Roman" panose="02020603050405020304" pitchFamily="18" charset="0"/>
                <a:cs typeface="Times New Roman" panose="02020603050405020304" pitchFamily="18" charset="0"/>
              </a:rPr>
              <a:t>skills from the human resource management. </a:t>
            </a:r>
            <a:r>
              <a:rPr lang="en-GB" sz="2000" b="1" dirty="0" smtClean="0">
                <a:latin typeface="Times New Roman" panose="02020603050405020304" pitchFamily="18" charset="0"/>
                <a:cs typeface="Times New Roman" panose="02020603050405020304" pitchFamily="18" charset="0"/>
              </a:rPr>
              <a:t>Employee </a:t>
            </a:r>
            <a:r>
              <a:rPr lang="en-GB" sz="2000" b="1" dirty="0">
                <a:latin typeface="Times New Roman" panose="02020603050405020304" pitchFamily="18" charset="0"/>
                <a:cs typeface="Times New Roman" panose="02020603050405020304" pitchFamily="18" charset="0"/>
              </a:rPr>
              <a:t>attrition </a:t>
            </a:r>
            <a:r>
              <a:rPr lang="en-GB" sz="2000" dirty="0">
                <a:latin typeface="Times New Roman" panose="02020603050405020304" pitchFamily="18" charset="0"/>
                <a:cs typeface="Times New Roman" panose="02020603050405020304" pitchFamily="18" charset="0"/>
              </a:rPr>
              <a:t>is one of the biggest challenges organizations face currently. The cost of the loss of an employee and replacing them with another one can turn the focus away from the organization’s bottom line. Instead, </a:t>
            </a:r>
            <a:r>
              <a:rPr lang="en-GB" sz="2000" dirty="0" smtClean="0">
                <a:latin typeface="Times New Roman" panose="02020603050405020304" pitchFamily="18" charset="0"/>
                <a:cs typeface="Times New Roman" panose="02020603050405020304" pitchFamily="18" charset="0"/>
              </a:rPr>
              <a:t>analytics </a:t>
            </a:r>
            <a:r>
              <a:rPr lang="en-GB" sz="2000" dirty="0">
                <a:latin typeface="Times New Roman" panose="02020603050405020304" pitchFamily="18" charset="0"/>
                <a:cs typeface="Times New Roman" panose="02020603050405020304" pitchFamily="18" charset="0"/>
              </a:rPr>
              <a:t>can be used to prevent this in the first place by identifying at-risk employees. By </a:t>
            </a:r>
            <a:r>
              <a:rPr lang="en-GB" sz="2000" b="1" dirty="0" smtClean="0">
                <a:latin typeface="Times New Roman" panose="02020603050405020304" pitchFamily="18" charset="0"/>
                <a:cs typeface="Times New Roman" panose="02020603050405020304" pitchFamily="18" charset="0"/>
              </a:rPr>
              <a:t>analysing </a:t>
            </a:r>
            <a:r>
              <a:rPr lang="en-GB" sz="2000" b="1" dirty="0">
                <a:latin typeface="Times New Roman" panose="02020603050405020304" pitchFamily="18" charset="0"/>
                <a:cs typeface="Times New Roman" panose="02020603050405020304" pitchFamily="18" charset="0"/>
              </a:rPr>
              <a:t>factors </a:t>
            </a:r>
            <a:r>
              <a:rPr lang="en-GB" sz="2000" dirty="0">
                <a:latin typeface="Times New Roman" panose="02020603050405020304" pitchFamily="18" charset="0"/>
                <a:cs typeface="Times New Roman" panose="02020603050405020304" pitchFamily="18" charset="0"/>
              </a:rPr>
              <a:t>such as pay, promotions, company environment, and relationships with managers, predictive analytics can reveal who may be the most likely to leave the organization, serving as a game changer in the personalization of the engagement process for those employees and their retention.</a:t>
            </a:r>
          </a:p>
        </p:txBody>
      </p:sp>
      <p:sp>
        <p:nvSpPr>
          <p:cNvPr id="2" name="Slide Number Placeholder 1"/>
          <p:cNvSpPr>
            <a:spLocks noGrp="1"/>
          </p:cNvSpPr>
          <p:nvPr>
            <p:ph type="sldNum" sz="quarter" idx="12"/>
          </p:nvPr>
        </p:nvSpPr>
        <p:spPr/>
        <p:txBody>
          <a:bodyPr/>
          <a:lstStyle/>
          <a:p>
            <a:fld id="{3C34788B-A328-40B4-96DA-57139D3AAE30}" type="slidenum">
              <a:rPr lang="en-GB" smtClean="0"/>
              <a:t>15</a:t>
            </a:fld>
            <a:endParaRPr lang="en-GB"/>
          </a:p>
        </p:txBody>
      </p:sp>
      <p:sp>
        <p:nvSpPr>
          <p:cNvPr id="6" name="Footer Placeholder 5"/>
          <p:cNvSpPr>
            <a:spLocks noGrp="1"/>
          </p:cNvSpPr>
          <p:nvPr>
            <p:ph type="ftr" sz="quarter" idx="11"/>
          </p:nvPr>
        </p:nvSpPr>
        <p:spPr/>
        <p:txBody>
          <a:bodyPr/>
          <a:lstStyle/>
          <a:p>
            <a:r>
              <a:rPr lang="en-GB" smtClean="0"/>
              <a:t>M.Tech(CSE) Major Project</a:t>
            </a:r>
            <a:endParaRPr lang="en-GB"/>
          </a:p>
        </p:txBody>
      </p:sp>
    </p:spTree>
    <p:extLst>
      <p:ext uri="{BB962C8B-B14F-4D97-AF65-F5344CB8AC3E}">
        <p14:creationId xmlns:p14="http://schemas.microsoft.com/office/powerpoint/2010/main" val="31384638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endParaRPr lang="en-GB"/>
          </a:p>
        </p:txBody>
      </p:sp>
      <p:pic>
        <p:nvPicPr>
          <p:cNvPr id="4" name="Content Placeholder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34636"/>
            <a:ext cx="9144000" cy="689263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itle 1"/>
          <p:cNvSpPr txBox="1">
            <a:spLocks/>
          </p:cNvSpPr>
          <p:nvPr/>
        </p:nvSpPr>
        <p:spPr>
          <a:xfrm>
            <a:off x="0" y="0"/>
            <a:ext cx="91440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smtClean="0">
                <a:latin typeface="Algerian" panose="04020705040A02060702" pitchFamily="82" charset="0"/>
              </a:rPr>
              <a:t>References</a:t>
            </a:r>
            <a:endParaRPr lang="en-GB" sz="4000" dirty="0">
              <a:latin typeface="Algerian" panose="04020705040A02060702" pitchFamily="82" charset="0"/>
            </a:endParaRPr>
          </a:p>
        </p:txBody>
      </p:sp>
      <p:sp>
        <p:nvSpPr>
          <p:cNvPr id="6" name="Rectangle 5"/>
          <p:cNvSpPr/>
          <p:nvPr/>
        </p:nvSpPr>
        <p:spPr>
          <a:xfrm>
            <a:off x="228600" y="1143000"/>
            <a:ext cx="8763000" cy="4247317"/>
          </a:xfrm>
          <a:prstGeom prst="rect">
            <a:avLst/>
          </a:prstGeom>
        </p:spPr>
        <p:txBody>
          <a:bodyPr wrap="square">
            <a:spAutoFit/>
          </a:bodyPr>
          <a:lstStyle/>
          <a:p>
            <a:pPr algn="just">
              <a:lnSpc>
                <a:spcPct val="150000"/>
              </a:lnSpc>
            </a:pPr>
            <a:r>
              <a:rPr lang="en-GB" dirty="0">
                <a:latin typeface="Times New Roman" panose="02020603050405020304" pitchFamily="18" charset="0"/>
                <a:cs typeface="Times New Roman" panose="02020603050405020304" pitchFamily="18" charset="0"/>
              </a:rPr>
              <a:t>1.	</a:t>
            </a:r>
            <a:r>
              <a:rPr lang="en-GB" dirty="0" err="1">
                <a:latin typeface="Times New Roman" panose="02020603050405020304" pitchFamily="18" charset="0"/>
                <a:cs typeface="Times New Roman" panose="02020603050405020304" pitchFamily="18" charset="0"/>
              </a:rPr>
              <a:t>Mita</a:t>
            </a:r>
            <a:r>
              <a:rPr lang="en-GB" dirty="0">
                <a:latin typeface="Times New Roman" panose="02020603050405020304" pitchFamily="18" charset="0"/>
                <a:cs typeface="Times New Roman" panose="02020603050405020304" pitchFamily="18" charset="0"/>
              </a:rPr>
              <a:t>, M., </a:t>
            </a:r>
            <a:r>
              <a:rPr lang="en-GB" dirty="0" err="1">
                <a:latin typeface="Times New Roman" panose="02020603050405020304" pitchFamily="18" charset="0"/>
                <a:cs typeface="Times New Roman" panose="02020603050405020304" pitchFamily="18" charset="0"/>
              </a:rPr>
              <a:t>Aarti</a:t>
            </a:r>
            <a:r>
              <a:rPr lang="en-GB" dirty="0">
                <a:latin typeface="Times New Roman" panose="02020603050405020304" pitchFamily="18" charset="0"/>
                <a:cs typeface="Times New Roman" panose="02020603050405020304" pitchFamily="18" charset="0"/>
              </a:rPr>
              <a:t> K. and </a:t>
            </a:r>
            <a:r>
              <a:rPr lang="en-GB" dirty="0" err="1">
                <a:latin typeface="Times New Roman" panose="02020603050405020304" pitchFamily="18" charset="0"/>
                <a:cs typeface="Times New Roman" panose="02020603050405020304" pitchFamily="18" charset="0"/>
              </a:rPr>
              <a:t>Ravneeta</a:t>
            </a:r>
            <a:r>
              <a:rPr lang="en-GB" dirty="0">
                <a:latin typeface="Times New Roman" panose="02020603050405020304" pitchFamily="18" charset="0"/>
                <a:cs typeface="Times New Roman" panose="02020603050405020304" pitchFamily="18" charset="0"/>
              </a:rPr>
              <a:t>, D. (2014) Study on Employee Retention and Commitment. International Journal of Advance Research in Computer Science and Management Studies, 2, 154-164.</a:t>
            </a:r>
          </a:p>
          <a:p>
            <a:pPr algn="just">
              <a:lnSpc>
                <a:spcPct val="150000"/>
              </a:lnSpc>
            </a:pPr>
            <a:r>
              <a:rPr lang="en-GB" dirty="0">
                <a:latin typeface="Times New Roman" panose="02020603050405020304" pitchFamily="18" charset="0"/>
                <a:cs typeface="Times New Roman" panose="02020603050405020304" pitchFamily="18" charset="0"/>
              </a:rPr>
              <a:t>2.	Kumar, </a:t>
            </a:r>
            <a:r>
              <a:rPr lang="en-GB" dirty="0" err="1">
                <a:latin typeface="Times New Roman" panose="02020603050405020304" pitchFamily="18" charset="0"/>
                <a:cs typeface="Times New Roman" panose="02020603050405020304" pitchFamily="18" charset="0"/>
              </a:rPr>
              <a:t>Sanath</a:t>
            </a:r>
            <a:r>
              <a:rPr lang="en-GB" dirty="0">
                <a:latin typeface="Times New Roman" panose="02020603050405020304" pitchFamily="18" charset="0"/>
                <a:cs typeface="Times New Roman" panose="02020603050405020304" pitchFamily="18" charset="0"/>
              </a:rPr>
              <a:t> &amp; </a:t>
            </a:r>
            <a:r>
              <a:rPr lang="en-GB" dirty="0" err="1">
                <a:latin typeface="Times New Roman" panose="02020603050405020304" pitchFamily="18" charset="0"/>
                <a:cs typeface="Times New Roman" panose="02020603050405020304" pitchFamily="18" charset="0"/>
              </a:rPr>
              <a:t>Devadas</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Udaya</a:t>
            </a:r>
            <a:r>
              <a:rPr lang="en-GB" dirty="0">
                <a:latin typeface="Times New Roman" panose="02020603050405020304" pitchFamily="18" charset="0"/>
                <a:cs typeface="Times New Roman" panose="02020603050405020304" pitchFamily="18" charset="0"/>
              </a:rPr>
              <a:t> &amp; </a:t>
            </a:r>
            <a:r>
              <a:rPr lang="en-GB" dirty="0" err="1">
                <a:latin typeface="Times New Roman" panose="02020603050405020304" pitchFamily="18" charset="0"/>
                <a:cs typeface="Times New Roman" panose="02020603050405020304" pitchFamily="18" charset="0"/>
              </a:rPr>
              <a:t>Dhammika</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Kas</a:t>
            </a:r>
            <a:r>
              <a:rPr lang="en-GB" dirty="0">
                <a:latin typeface="Times New Roman" panose="02020603050405020304" pitchFamily="18" charset="0"/>
                <a:cs typeface="Times New Roman" panose="02020603050405020304" pitchFamily="18" charset="0"/>
              </a:rPr>
              <a:t>. (2021). Impact of Employee Value Proposition on Employee Retention: A conceptual paper. 10.5281/zenodo.5513384.</a:t>
            </a:r>
          </a:p>
          <a:p>
            <a:pPr algn="just">
              <a:lnSpc>
                <a:spcPct val="150000"/>
              </a:lnSpc>
            </a:pPr>
            <a:r>
              <a:rPr lang="en-GB" dirty="0">
                <a:latin typeface="Times New Roman" panose="02020603050405020304" pitchFamily="18" charset="0"/>
                <a:cs typeface="Times New Roman" panose="02020603050405020304" pitchFamily="18" charset="0"/>
              </a:rPr>
              <a:t>3.	Reddy </a:t>
            </a:r>
            <a:r>
              <a:rPr lang="en-GB" dirty="0" err="1">
                <a:latin typeface="Times New Roman" panose="02020603050405020304" pitchFamily="18" charset="0"/>
                <a:cs typeface="Times New Roman" panose="02020603050405020304" pitchFamily="18" charset="0"/>
              </a:rPr>
              <a:t>Asi</a:t>
            </a:r>
            <a:r>
              <a:rPr lang="en-GB" dirty="0">
                <a:latin typeface="Times New Roman" panose="02020603050405020304" pitchFamily="18" charset="0"/>
                <a:cs typeface="Times New Roman" panose="02020603050405020304" pitchFamily="18" charset="0"/>
              </a:rPr>
              <a:t>, Dr Vasudeva. (2021). Compensation System: Influence on Employee Retention. </a:t>
            </a:r>
          </a:p>
          <a:p>
            <a:pPr algn="just">
              <a:lnSpc>
                <a:spcPct val="150000"/>
              </a:lnSpc>
            </a:pPr>
            <a:r>
              <a:rPr lang="en-GB" dirty="0">
                <a:latin typeface="Times New Roman" panose="02020603050405020304" pitchFamily="18" charset="0"/>
                <a:cs typeface="Times New Roman" panose="02020603050405020304" pitchFamily="18" charset="0"/>
              </a:rPr>
              <a:t>4.	</a:t>
            </a:r>
            <a:r>
              <a:rPr lang="en-GB" dirty="0" err="1">
                <a:latin typeface="Times New Roman" panose="02020603050405020304" pitchFamily="18" charset="0"/>
                <a:cs typeface="Times New Roman" panose="02020603050405020304" pitchFamily="18" charset="0"/>
              </a:rPr>
              <a:t>Gorde</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Sangita</a:t>
            </a:r>
            <a:r>
              <a:rPr lang="en-GB" dirty="0">
                <a:latin typeface="Times New Roman" panose="02020603050405020304" pitchFamily="18" charset="0"/>
                <a:cs typeface="Times New Roman" panose="02020603050405020304" pitchFamily="18" charset="0"/>
              </a:rPr>
              <a:t>. (2019). A Study of Employee Retention. </a:t>
            </a:r>
          </a:p>
          <a:p>
            <a:pPr algn="just">
              <a:lnSpc>
                <a:spcPct val="150000"/>
              </a:lnSpc>
            </a:pPr>
            <a:r>
              <a:rPr lang="en-GB" dirty="0">
                <a:latin typeface="Times New Roman" panose="02020603050405020304" pitchFamily="18" charset="0"/>
                <a:cs typeface="Times New Roman" panose="02020603050405020304" pitchFamily="18" charset="0"/>
              </a:rPr>
              <a:t>5.	Silva, Melissa &amp; </a:t>
            </a:r>
            <a:r>
              <a:rPr lang="en-GB" dirty="0" err="1">
                <a:latin typeface="Times New Roman" panose="02020603050405020304" pitchFamily="18" charset="0"/>
                <a:cs typeface="Times New Roman" panose="02020603050405020304" pitchFamily="18" charset="0"/>
              </a:rPr>
              <a:t>Carvalho</a:t>
            </a:r>
            <a:r>
              <a:rPr lang="en-GB" dirty="0">
                <a:latin typeface="Times New Roman" panose="02020603050405020304" pitchFamily="18" charset="0"/>
                <a:cs typeface="Times New Roman" panose="02020603050405020304" pitchFamily="18" charset="0"/>
              </a:rPr>
              <a:t>, Joao &amp; Dias, Álvaro. (2019). Determinants of Employee </a:t>
            </a:r>
            <a:r>
              <a:rPr lang="en-GB" dirty="0" smtClean="0">
                <a:latin typeface="Times New Roman" panose="02020603050405020304" pitchFamily="18" charset="0"/>
                <a:cs typeface="Times New Roman" panose="02020603050405020304" pitchFamily="18" charset="0"/>
              </a:rPr>
              <a:t>Retention</a:t>
            </a:r>
            <a:r>
              <a:rPr lang="en-GB" dirty="0">
                <a:latin typeface="Times New Roman" panose="02020603050405020304" pitchFamily="18" charset="0"/>
                <a:cs typeface="Times New Roman" panose="02020603050405020304" pitchFamily="18" charset="0"/>
              </a:rPr>
              <a:t>. 10.4018/978-1-5225-7888-8.ch004.</a:t>
            </a:r>
          </a:p>
        </p:txBody>
      </p:sp>
      <p:sp>
        <p:nvSpPr>
          <p:cNvPr id="7" name="Slide Number Placeholder 6"/>
          <p:cNvSpPr>
            <a:spLocks noGrp="1"/>
          </p:cNvSpPr>
          <p:nvPr>
            <p:ph type="sldNum" sz="quarter" idx="12"/>
          </p:nvPr>
        </p:nvSpPr>
        <p:spPr/>
        <p:txBody>
          <a:bodyPr/>
          <a:lstStyle/>
          <a:p>
            <a:fld id="{3C34788B-A328-40B4-96DA-57139D3AAE30}" type="slidenum">
              <a:rPr lang="en-GB" smtClean="0"/>
              <a:t>16</a:t>
            </a:fld>
            <a:endParaRPr lang="en-GB"/>
          </a:p>
        </p:txBody>
      </p:sp>
      <p:sp>
        <p:nvSpPr>
          <p:cNvPr id="8" name="Footer Placeholder 7"/>
          <p:cNvSpPr>
            <a:spLocks noGrp="1"/>
          </p:cNvSpPr>
          <p:nvPr>
            <p:ph type="ftr" sz="quarter" idx="11"/>
          </p:nvPr>
        </p:nvSpPr>
        <p:spPr/>
        <p:txBody>
          <a:bodyPr/>
          <a:lstStyle/>
          <a:p>
            <a:r>
              <a:rPr lang="en-GB" smtClean="0"/>
              <a:t>M.Tech(CSE) Major Project</a:t>
            </a:r>
            <a:endParaRPr lang="en-GB"/>
          </a:p>
        </p:txBody>
      </p:sp>
    </p:spTree>
    <p:extLst>
      <p:ext uri="{BB962C8B-B14F-4D97-AF65-F5344CB8AC3E}">
        <p14:creationId xmlns:p14="http://schemas.microsoft.com/office/powerpoint/2010/main" val="4011735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 y="914400"/>
            <a:ext cx="8915400" cy="5410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Footer Placeholder 3"/>
          <p:cNvSpPr>
            <a:spLocks noGrp="1"/>
          </p:cNvSpPr>
          <p:nvPr>
            <p:ph type="ftr" sz="quarter" idx="11"/>
          </p:nvPr>
        </p:nvSpPr>
        <p:spPr/>
        <p:txBody>
          <a:bodyPr/>
          <a:lstStyle/>
          <a:p>
            <a:r>
              <a:rPr lang="en-GB" smtClean="0"/>
              <a:t>M.Tech(CSE) Major Project</a:t>
            </a:r>
            <a:endParaRPr lang="en-GB"/>
          </a:p>
        </p:txBody>
      </p:sp>
      <p:sp>
        <p:nvSpPr>
          <p:cNvPr id="5" name="Slide Number Placeholder 4"/>
          <p:cNvSpPr>
            <a:spLocks noGrp="1"/>
          </p:cNvSpPr>
          <p:nvPr>
            <p:ph type="sldNum" sz="quarter" idx="12"/>
          </p:nvPr>
        </p:nvSpPr>
        <p:spPr/>
        <p:txBody>
          <a:bodyPr/>
          <a:lstStyle/>
          <a:p>
            <a:fld id="{3C34788B-A328-40B4-96DA-57139D3AAE30}" type="slidenum">
              <a:rPr lang="en-GB" smtClean="0"/>
              <a:t>17</a:t>
            </a:fld>
            <a:endParaRPr lang="en-GB"/>
          </a:p>
        </p:txBody>
      </p:sp>
      <p:sp>
        <p:nvSpPr>
          <p:cNvPr id="7" name="Title 1"/>
          <p:cNvSpPr txBox="1">
            <a:spLocks/>
          </p:cNvSpPr>
          <p:nvPr/>
        </p:nvSpPr>
        <p:spPr>
          <a:xfrm>
            <a:off x="0" y="0"/>
            <a:ext cx="9144000" cy="9144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smtClean="0">
                <a:latin typeface="Algerian" panose="04020705040A02060702" pitchFamily="82" charset="0"/>
              </a:rPr>
              <a:t>Acceptance letter </a:t>
            </a:r>
            <a:endParaRPr lang="en-GB" sz="4000" dirty="0">
              <a:latin typeface="Algerian" panose="04020705040A02060702" pitchFamily="82" charset="0"/>
            </a:endParaRPr>
          </a:p>
        </p:txBody>
      </p:sp>
    </p:spTree>
    <p:extLst>
      <p:ext uri="{BB962C8B-B14F-4D97-AF65-F5344CB8AC3E}">
        <p14:creationId xmlns:p14="http://schemas.microsoft.com/office/powerpoint/2010/main" val="30375259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GB" smtClean="0"/>
              <a:t>M.Tech(CSE) Major Project</a:t>
            </a:r>
            <a:endParaRPr lang="en-GB"/>
          </a:p>
        </p:txBody>
      </p:sp>
      <p:sp>
        <p:nvSpPr>
          <p:cNvPr id="5" name="Slide Number Placeholder 4"/>
          <p:cNvSpPr>
            <a:spLocks noGrp="1"/>
          </p:cNvSpPr>
          <p:nvPr>
            <p:ph type="sldNum" sz="quarter" idx="12"/>
          </p:nvPr>
        </p:nvSpPr>
        <p:spPr/>
        <p:txBody>
          <a:bodyPr/>
          <a:lstStyle/>
          <a:p>
            <a:fld id="{3C34788B-A328-40B4-96DA-57139D3AAE30}" type="slidenum">
              <a:rPr lang="en-GB" smtClean="0"/>
              <a:t>18</a:t>
            </a:fld>
            <a:endParaRPr lang="en-GB"/>
          </a:p>
        </p:txBody>
      </p:sp>
      <p:pic>
        <p:nvPicPr>
          <p:cNvPr id="8" name="Content Placeholder 7"/>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710417"/>
            <a:ext cx="9067800" cy="6147583"/>
          </a:xfrm>
        </p:spPr>
      </p:pic>
      <p:sp>
        <p:nvSpPr>
          <p:cNvPr id="10" name="Title 1"/>
          <p:cNvSpPr txBox="1">
            <a:spLocks/>
          </p:cNvSpPr>
          <p:nvPr/>
        </p:nvSpPr>
        <p:spPr>
          <a:xfrm>
            <a:off x="0" y="-152400"/>
            <a:ext cx="91440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dirty="0" smtClean="0">
                <a:latin typeface="Algerian" panose="04020705040A02060702" pitchFamily="82" charset="0"/>
              </a:rPr>
              <a:t>Certificate</a:t>
            </a:r>
            <a:endParaRPr lang="en-GB" sz="4000" dirty="0">
              <a:latin typeface="Algerian" panose="04020705040A02060702" pitchFamily="82" charset="0"/>
            </a:endParaRPr>
          </a:p>
        </p:txBody>
      </p:sp>
    </p:spTree>
    <p:extLst>
      <p:ext uri="{BB962C8B-B14F-4D97-AF65-F5344CB8AC3E}">
        <p14:creationId xmlns:p14="http://schemas.microsoft.com/office/powerpoint/2010/main" val="14052639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999</TotalTime>
  <Words>1214</Words>
  <Application>Microsoft Office PowerPoint</Application>
  <PresentationFormat>On-screen Show (4:3)</PresentationFormat>
  <Paragraphs>133</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ABSTRACT</vt:lpstr>
      <vt:lpstr>Why employees resign?</vt:lpstr>
      <vt:lpstr>Purpose</vt:lpstr>
      <vt:lpstr>PowerPoint Presentation</vt:lpstr>
      <vt:lpstr>System architecture</vt:lpstr>
      <vt:lpstr>Implementation</vt:lpstr>
      <vt:lpstr>Technical concepts</vt:lpstr>
      <vt:lpstr>Algorithms </vt:lpstr>
      <vt:lpstr>Algorithms</vt:lpstr>
      <vt:lpstr>PowerPoint Presentation</vt:lpstr>
      <vt:lpstr>Screenshots</vt:lpstr>
      <vt:lpstr>PowerPoint Presentation</vt:lpstr>
      <vt:lpstr>conclusion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Windows User</cp:lastModifiedBy>
  <cp:revision>66</cp:revision>
  <dcterms:created xsi:type="dcterms:W3CDTF">2021-06-01T17:47:12Z</dcterms:created>
  <dcterms:modified xsi:type="dcterms:W3CDTF">2022-01-04T18:16:19Z</dcterms:modified>
</cp:coreProperties>
</file>